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09" r:id="rId3"/>
    <p:sldId id="310" r:id="rId4"/>
    <p:sldId id="283" r:id="rId5"/>
    <p:sldId id="284" r:id="rId6"/>
    <p:sldId id="300" r:id="rId7"/>
    <p:sldId id="306" r:id="rId8"/>
    <p:sldId id="301" r:id="rId9"/>
    <p:sldId id="303" r:id="rId10"/>
    <p:sldId id="308" r:id="rId11"/>
    <p:sldId id="295" r:id="rId12"/>
    <p:sldId id="289" r:id="rId13"/>
    <p:sldId id="290" r:id="rId14"/>
    <p:sldId id="29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B6A08-1181-6E3B-CBF3-6532F8B9C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CF31B3-2145-04D7-1BFA-23AC936F2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F8D540-3CAC-8231-320C-54841B85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9EE414-4187-2C75-1D83-09CD9AF0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37552-5326-2785-19E1-BFAE1221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7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A4B31-4016-D004-602C-2EA4B38C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4EC70E-74E2-7C26-7022-B025CABA0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47219-E713-991C-ED4C-BACA0621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303DE9-3C66-522C-9031-040DC488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738B3-6025-B328-4330-E1A8B32F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42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5836-F43E-103F-FFC0-5708C7D4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094EEF-6633-AD4F-D0D1-8BDDFBB3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6E038-3B76-F62E-9ED8-A65E0A6E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398F1-BF05-2134-1D8C-4342C087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55566-C0FB-618B-1946-62FB130E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90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4D6AA-A8BB-0EE6-F504-93BBD33D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07837-8E1C-9DC5-0BF7-0F368006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8EE917-78DC-6C60-99C7-1A6F2A0B3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00F8DE-9789-2D40-9824-9DEB7B7A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C0375D-075C-F39A-7BBD-D3AE9638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647944-37BF-D31A-B190-3F73108C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8B2B0-56E8-4E79-0B2D-F45C5BD5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8974A3-516F-E55F-3515-8B6A012FD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371808-474B-1EE5-087C-D8A73A514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D4F097-783C-17D0-A5F5-F08B87C33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3C6218-25D4-9855-A1F2-39C87973C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4B0161-CBA2-F0E4-3EA1-56F29765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92F73A-547A-0899-A093-5809716A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C7FB44-4B0B-8B19-1C82-7B6D3F6C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184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752C4-1A3A-98EE-32BB-4BAAD947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05E1B0-D435-C331-ADCB-CCC9E197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3B36AA-74DD-2AD0-B139-CD127BC4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BA3C43-F271-2414-EA8C-81F1593E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53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50B62B-3A31-F47C-8473-F048110D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1F53BB-F2FF-CEDD-E95F-9AFE52B6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282D60-F872-29D7-FBC8-3487094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B1FE6-2C60-5B17-E03B-CB5F9007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5FF57-C3B3-033A-1AEF-71A6DA6C6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C08E62-4BCB-D6E5-004C-D2C9D939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6D14DF-6823-194C-43FC-B9B509F5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EB2241-0390-CD86-2A8A-0DDA652C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6DBF75-69A9-5C45-0A8B-3487E5E1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31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88338-EE8C-4FC6-05A3-55963F56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9ECA0D-6B06-23CD-2849-156A6C900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9C350C-8F21-AA02-E33E-BB682DB52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90771D-BF43-8243-E8FF-F38A0172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5107B0-B8F4-7AD1-09B8-E69258ED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1634C2-F8E6-7D2F-80F8-833FEAFD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90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D0284-1427-9C7D-07C6-625F6413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327DE7-92C0-7864-FB2F-27D5A1294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0E572-6FBC-9688-8495-7E832BB9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758C36-04BD-6FAC-02D6-1CAB70DB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2CBC7F-EEB6-412F-E298-5D5F3804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23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63A62F-4B10-CA12-4B56-D6099E4C4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310B05-DAD3-4224-3E7A-EBBEFDA4C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9488A7-C7F6-15C8-7DE4-7251A929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3BA45B-337C-BD59-F88B-6BD2EADF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7E626F-B080-DCB0-9842-7D8BA66C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2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BB3CB-D3EC-330D-9413-991398A4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D706EF-E7E7-EBEA-EE82-8A427D57E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985366-660B-D489-DA97-A5902A725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B26F09-3CD5-90CE-3469-78783EC18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FE76A-C275-3BA6-03DD-EFAA60E1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01" name="FooterLine"/>
          <p:cNvSpPr/>
          <p:nvPr userDrawn="1"/>
        </p:nvSpPr>
        <p:spPr>
          <a:xfrm>
            <a:off x="457200" y="6629400"/>
            <a:ext cx="8229600" cy="12700"/>
          </a:xfrm>
          <a:prstGeom prst="rect">
            <a:avLst/>
          </a:prstGeom>
          <a:solidFill>
            <a:srgbClr val="D0D5D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4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33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233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233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2D872-6EBB-21C7-76B8-5FFB533F14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000" dirty="0"/>
              <a:t>Сервис обработки изображений с использованием генеративных нейросетей</a:t>
            </a:r>
            <a:endParaRPr lang="ru-RU" sz="5000" b="1" dirty="0">
              <a:solidFill>
                <a:srgbClr val="1F4E79"/>
              </a:solidFill>
              <a:latin typeface="Georgia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9EA679-F7E1-75F0-9D95-951BAEC36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algn="ctr">
              <a:buNone/>
            </a:pPr>
            <a:r>
              <a:rPr lang="ru-RU" sz="2000" i="1" dirty="0">
                <a:solidFill>
                  <a:srgbClr val="2C3E5C"/>
                </a:solidFill>
                <a:latin typeface="Calibri"/>
              </a:rPr>
              <a:t>Система интеллектуального инпейнтинга на примере автомобильного тюнинга</a:t>
            </a:r>
          </a:p>
          <a:p>
            <a:pPr algn="ctr">
              <a:buNone/>
            </a:pPr>
            <a:endParaRPr lang="ru-RU" sz="1400" dirty="0"/>
          </a:p>
          <a:p>
            <a:pPr algn="ctr">
              <a:buNone/>
            </a:pPr>
            <a:r>
              <a:rPr lang="ru-RU" sz="1600" dirty="0">
                <a:solidFill>
                  <a:srgbClr val="5A5A5A"/>
                </a:solidFill>
                <a:latin typeface="Calibri"/>
              </a:rPr>
              <a:t>Научный руководитель</a:t>
            </a:r>
            <a:r>
              <a:rPr lang="en-US" sz="1600" dirty="0">
                <a:solidFill>
                  <a:srgbClr val="5A5A5A"/>
                </a:solidFill>
                <a:latin typeface="Calibri"/>
              </a:rPr>
              <a:t>: </a:t>
            </a:r>
            <a:r>
              <a:rPr lang="ru-RU" sz="1600" dirty="0">
                <a:solidFill>
                  <a:srgbClr val="5A5A5A"/>
                </a:solidFill>
                <a:latin typeface="Calibri"/>
              </a:rPr>
              <a:t>Синица С</a:t>
            </a:r>
            <a:r>
              <a:rPr lang="en-US" sz="1600" dirty="0">
                <a:solidFill>
                  <a:srgbClr val="5A5A5A"/>
                </a:solidFill>
                <a:latin typeface="Calibri"/>
              </a:rPr>
              <a:t>. </a:t>
            </a:r>
            <a:r>
              <a:rPr lang="ru-RU" sz="1600" dirty="0">
                <a:solidFill>
                  <a:srgbClr val="5A5A5A"/>
                </a:solidFill>
                <a:latin typeface="Calibri"/>
              </a:rPr>
              <a:t>Г</a:t>
            </a:r>
            <a:r>
              <a:rPr lang="en-US" sz="1600" dirty="0">
                <a:solidFill>
                  <a:srgbClr val="5A5A5A"/>
                </a:solidFill>
                <a:latin typeface="Calibri"/>
              </a:rPr>
              <a:t>.</a:t>
            </a:r>
            <a:endParaRPr lang="ru-RU" sz="1600" dirty="0">
              <a:solidFill>
                <a:srgbClr val="5A5A5A"/>
              </a:solidFill>
              <a:latin typeface="Calibri"/>
            </a:endParaRPr>
          </a:p>
          <a:p>
            <a:pPr algn="ctr">
              <a:buNone/>
            </a:pPr>
            <a:r>
              <a:rPr lang="ru-RU" sz="1600" dirty="0">
                <a:solidFill>
                  <a:srgbClr val="5A5A5A"/>
                </a:solidFill>
                <a:latin typeface="Calibri"/>
              </a:rPr>
              <a:t>Выполнил</a:t>
            </a:r>
            <a:r>
              <a:rPr lang="en-US" sz="1600" dirty="0">
                <a:solidFill>
                  <a:srgbClr val="5A5A5A"/>
                </a:solidFill>
                <a:latin typeface="Calibri"/>
              </a:rPr>
              <a:t>: </a:t>
            </a:r>
            <a:r>
              <a:rPr lang="ru-RU" sz="1600" dirty="0">
                <a:solidFill>
                  <a:srgbClr val="5A5A5A"/>
                </a:solidFill>
                <a:latin typeface="Calibri"/>
              </a:rPr>
              <a:t>Ненашев К</a:t>
            </a:r>
            <a:r>
              <a:rPr lang="en-US" sz="1600" dirty="0">
                <a:solidFill>
                  <a:srgbClr val="5A5A5A"/>
                </a:solidFill>
                <a:latin typeface="Calibri"/>
              </a:rPr>
              <a:t>. </a:t>
            </a:r>
            <a:r>
              <a:rPr lang="ru-RU" sz="1600" dirty="0">
                <a:solidFill>
                  <a:srgbClr val="5A5A5A"/>
                </a:solidFill>
                <a:latin typeface="Calibri"/>
              </a:rPr>
              <a:t>А</a:t>
            </a:r>
            <a:r>
              <a:rPr lang="en-US" sz="1600" dirty="0">
                <a:solidFill>
                  <a:srgbClr val="5A5A5A"/>
                </a:solidFill>
                <a:latin typeface="Calibri"/>
              </a:rPr>
              <a:t>.</a:t>
            </a:r>
            <a:endParaRPr lang="ru-RU" sz="1600" dirty="0">
              <a:solidFill>
                <a:srgbClr val="5A5A5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76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D5E61-AB1C-303E-FC48-8A21526D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Проблема дистанционной торговли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31E55A-0029-6B1F-5427-E410F8AC5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Объём e-commerce в России в 2024 году — 11 трлн руб., рост 41%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Покупатель не может примерить товар до покупки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Решение о покупке принимается только по фото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Wildberries и Ozon ввели платные возвраты — проблема стала массовой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Для автотюнинга и интерьера примерка физически невозможна</a:t>
            </a:r>
          </a:p>
        </p:txBody>
      </p:sp>
      <p:sp>
        <p:nvSpPr>
          <p:cNvPr id="60" name="Footnotes"/>
          <p:cNvSpPr>
            <a:spLocks noGrp="1"/>
          </p:cNvSpPr>
          <p:nvPr/>
        </p:nvSpPr>
        <p:spPr>
          <a:xfrm>
            <a:off x="838200" y="6299200"/>
            <a:ext cx="10515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ru-RU" sz="1100" i="1" dirty="0">
                <a:solidFill>
                  <a:srgbClr val="888888"/>
                </a:solidFill>
                <a:latin typeface="Calibri"/>
              </a:rPr>
              <a:t>Источники: [2] АКИТ, 2025 — akit.ru; [3] Яков и Партнёры, 2025 — yakovpartners.ru</a:t>
            </a:r>
          </a:p>
        </p:txBody>
      </p:sp>
    </p:spTree>
    <p:extLst>
      <p:ext uri="{BB962C8B-B14F-4D97-AF65-F5344CB8AC3E}">
        <p14:creationId xmlns:p14="http://schemas.microsoft.com/office/powerpoint/2010/main" val="172477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578C3-4E3F-D570-5624-6397B306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Возвраты — макроэкономическая 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A6425-C37A-43A7-C762-0185D47CF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США 2024: объём возвратов — $890 млрд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Обработка одного возврата стоит продавцу 20–66% от цены товара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AI-визуализация снижает возвраты на 30–40% (Grand View Research)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Рынок виртуальной примерки: $11,4 млрд в 2024 → $46,4 млрд к 2030</a:t>
            </a:r>
          </a:p>
        </p:txBody>
      </p:sp>
      <p:sp>
        <p:nvSpPr>
          <p:cNvPr id="61" name="Footnotes"/>
          <p:cNvSpPr>
            <a:spLocks noGrp="1"/>
          </p:cNvSpPr>
          <p:nvPr/>
        </p:nvSpPr>
        <p:spPr>
          <a:xfrm>
            <a:off x="838200" y="6299200"/>
            <a:ext cx="10515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ru-RU" sz="1100" i="1" dirty="0">
                <a:solidFill>
                  <a:srgbClr val="888888"/>
                </a:solidFill>
                <a:latin typeface="Calibri"/>
              </a:rPr>
              <a:t>Источники: [4] NRF &amp; Happy Returns, 2024 — nrf.com; [6] TrackingMore, 2024 — trackingmore.com; [5] Grand View Research, 2024 — grandviewresearch.com</a:t>
            </a:r>
          </a:p>
        </p:txBody>
      </p:sp>
    </p:spTree>
    <p:extLst>
      <p:ext uri="{BB962C8B-B14F-4D97-AF65-F5344CB8AC3E}">
        <p14:creationId xmlns:p14="http://schemas.microsoft.com/office/powerpoint/2010/main" val="221030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01F62-D9CC-C1A7-E589-A2B88FFB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Почему существующие решения не подходят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3BC96-1BA6-B286-C069-57DE8746A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Zalando, Amazon, Google — только одежда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IKEA Place — только мебель, нужны 3D-модели каждого товара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Все решения: привязаны к категории, не понимают произвольный запрос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Никто не делает: фото + текст → результат без ручной разметки</a:t>
            </a:r>
          </a:p>
        </p:txBody>
      </p:sp>
    </p:spTree>
    <p:extLst>
      <p:ext uri="{BB962C8B-B14F-4D97-AF65-F5344CB8AC3E}">
        <p14:creationId xmlns:p14="http://schemas.microsoft.com/office/powerpoint/2010/main" val="351754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CC8D5-0C78-EE54-D50A-46E2ABAD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8267E1-69EC-C87C-5601-DE097820C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lnSpc>
                <a:spcPts val="2200"/>
              </a:lnSpc>
              <a:spcBef>
                <a:spcPts val="200"/>
              </a:spcBef>
              <a:buNone/>
            </a:pPr>
            <a:r>
              <a:rPr lang="ru-RU" sz="1800" b="1" i="1" dirty="0">
                <a:solidFill>
                  <a:srgbClr val="1F4E79"/>
                </a:solidFill>
                <a:latin typeface="Calibri"/>
              </a:rPr>
              <a:t>Пользователь пишет «поставь карбоновый спойлер» — система всё делает сама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Загружаешь фото автомобиля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Описываешь изменение на естественном языке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Система находит деталь, выделяет область, генерирует результат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Без ручной разметки, без выбора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122689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2DCAA-DA0C-8126-8308-06C4ADDE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TuneAI — веб-приложение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2E46A8-6ECD-7731-3D50-7045865CE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105156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5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2DCAA-DA0C-8126-8308-06C4ADDE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Рабочий процесс в Parts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D9E25E-93BB-2660-409C-AB20DAEF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387" y="1690688"/>
            <a:ext cx="8473225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5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02A54-49D2-5DAF-347F-D8D25BCE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Рабочий процесс в Studio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00683B-C432-70AA-43CB-BC4C2A1F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77724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6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9BE84-4C07-29ED-FACC-8702772A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119C0A-038B-CAC5-B3A5-E51245572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8800"/>
            <a:ext cx="5257800" cy="4191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B6B53F-DD6C-D846-EECB-F35B7357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51" y="1938784"/>
            <a:ext cx="5502497" cy="3971031"/>
          </a:xfrm>
          <a:prstGeom prst="rect">
            <a:avLst/>
          </a:prstGeom>
        </p:spPr>
      </p:pic>
      <p:sp>
        <p:nvSpPr>
          <p:cNvPr id="50" name="Cap50"/>
          <p:cNvSpPr>
            <a:spLocks noGrp="1"/>
          </p:cNvSpPr>
          <p:nvPr/>
        </p:nvSpPr>
        <p:spPr>
          <a:xfrm>
            <a:off x="838200" y="6019800"/>
            <a:ext cx="495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ru-RU" sz="1400" i="1" dirty="0">
                <a:solidFill>
                  <a:srgbClr val="555F70"/>
                </a:solidFill>
                <a:latin typeface="Calibri"/>
              </a:rPr>
              <a:t>Рис. 1. Машина до обработки</a:t>
            </a:r>
          </a:p>
        </p:txBody>
      </p:sp>
      <p:sp>
        <p:nvSpPr>
          <p:cNvPr id="51" name="Cap51"/>
          <p:cNvSpPr>
            <a:spLocks noGrp="1"/>
          </p:cNvSpPr>
          <p:nvPr/>
        </p:nvSpPr>
        <p:spPr>
          <a:xfrm>
            <a:off x="6096000" y="6019800"/>
            <a:ext cx="5257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ru-RU" sz="1400" i="1" dirty="0">
                <a:solidFill>
                  <a:srgbClr val="555F70"/>
                </a:solidFill>
                <a:latin typeface="Calibri"/>
              </a:rPr>
              <a:t>Рис. 2. Результаты анализа и </a:t>
            </a:r>
            <a:r>
              <a:rPr lang="ru-RU" sz="1400" i="1" dirty="0" err="1">
                <a:solidFill>
                  <a:srgbClr val="555F70"/>
                </a:solidFill>
                <a:latin typeface="Calibri"/>
              </a:rPr>
              <a:t>рекоменд</a:t>
            </a:r>
            <a:endParaRPr lang="ru-RU" sz="1400" i="1" dirty="0">
              <a:solidFill>
                <a:srgbClr val="555F7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7197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698F7-12C6-F643-8F6B-88D811D6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Архитектура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A34D19-68BE-A723-9404-2ED5D110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195" y="1690688"/>
            <a:ext cx="38608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48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EF2B2-252A-0C96-FD55-BF30B3B7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Пайплайн системы</a:t>
            </a:r>
          </a:p>
        </p:txBody>
      </p:sp>
      <p:sp>
        <p:nvSpPr>
          <p:cNvPr id="20" name="Step0"/>
          <p:cNvSpPr>
            <a:spLocks noGrp="1"/>
          </p:cNvSpPr>
          <p:nvPr/>
        </p:nvSpPr>
        <p:spPr>
          <a:xfrm>
            <a:off x="8382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E8EFF7"/>
          </a:solidFill>
          <a:ln w="19050">
            <a:solidFill>
              <a:srgbClr val="1F4E7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ru-RU" sz="1500" b="1" dirty="0">
                <a:solidFill>
                  <a:srgbClr val="1F4E79"/>
                </a:solidFill>
                <a:latin typeface="Calibri"/>
              </a:rPr>
              <a:t>Запрос</a:t>
            </a:r>
          </a:p>
          <a:p>
            <a:pPr algn="ctr">
              <a:buNone/>
            </a:pPr>
            <a:r>
              <a:rPr lang="ru-RU" sz="1500" b="1" dirty="0">
                <a:solidFill>
                  <a:srgbClr val="1F4E79"/>
                </a:solidFill>
                <a:latin typeface="Calibri"/>
              </a:rPr>
              <a:t>пользователя</a:t>
            </a:r>
          </a:p>
        </p:txBody>
      </p:sp>
      <p:sp>
        <p:nvSpPr>
          <p:cNvPr id="30" name="Arrow0"/>
          <p:cNvSpPr>
            <a:spLocks noGrp="1"/>
          </p:cNvSpPr>
          <p:nvPr/>
        </p:nvSpPr>
        <p:spPr>
          <a:xfrm>
            <a:off x="24511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tep1"/>
          <p:cNvSpPr>
            <a:spLocks noGrp="1"/>
          </p:cNvSpPr>
          <p:nvPr/>
        </p:nvSpPr>
        <p:spPr>
          <a:xfrm>
            <a:off x="26035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ru-RU" sz="1500" b="1" dirty="0">
                <a:solidFill>
                  <a:srgbClr val="1F4E79"/>
                </a:solidFill>
                <a:latin typeface="Calibri"/>
              </a:rPr>
              <a:t>LLM-агент</a:t>
            </a:r>
          </a:p>
        </p:txBody>
      </p:sp>
      <p:sp>
        <p:nvSpPr>
          <p:cNvPr id="31" name="Arrow1"/>
          <p:cNvSpPr>
            <a:spLocks noGrp="1"/>
          </p:cNvSpPr>
          <p:nvPr/>
        </p:nvSpPr>
        <p:spPr>
          <a:xfrm>
            <a:off x="42164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tep2"/>
          <p:cNvSpPr>
            <a:spLocks noGrp="1"/>
          </p:cNvSpPr>
          <p:nvPr/>
        </p:nvSpPr>
        <p:spPr>
          <a:xfrm>
            <a:off x="43688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ru-RU" sz="1500" b="1" dirty="0">
                <a:solidFill>
                  <a:srgbClr val="1F4E79"/>
                </a:solidFill>
                <a:latin typeface="Calibri"/>
              </a:rPr>
              <a:t>Поиск детали</a:t>
            </a:r>
          </a:p>
          <a:p>
            <a:pPr algn="ctr">
              <a:buNone/>
            </a:pPr>
            <a:r>
              <a:rPr lang="ru-RU" sz="1300" dirty="0">
                <a:solidFill>
                  <a:srgbClr val="555F70"/>
                </a:solidFill>
                <a:latin typeface="Calibri"/>
              </a:rPr>
              <a:t>(pgvector)</a:t>
            </a:r>
          </a:p>
        </p:txBody>
      </p:sp>
      <p:sp>
        <p:nvSpPr>
          <p:cNvPr id="32" name="Arrow2"/>
          <p:cNvSpPr>
            <a:spLocks noGrp="1"/>
          </p:cNvSpPr>
          <p:nvPr/>
        </p:nvSpPr>
        <p:spPr>
          <a:xfrm>
            <a:off x="59817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Step3"/>
          <p:cNvSpPr>
            <a:spLocks noGrp="1"/>
          </p:cNvSpPr>
          <p:nvPr/>
        </p:nvSpPr>
        <p:spPr>
          <a:xfrm>
            <a:off x="61341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ru-RU" sz="1500" b="1" dirty="0">
                <a:solidFill>
                  <a:srgbClr val="1F4E79"/>
                </a:solidFill>
                <a:latin typeface="Calibri"/>
              </a:rPr>
              <a:t>Сегментация</a:t>
            </a:r>
          </a:p>
          <a:p>
            <a:pPr algn="ctr">
              <a:buNone/>
            </a:pPr>
            <a:r>
              <a:rPr lang="ru-RU" sz="1300" dirty="0">
                <a:solidFill>
                  <a:srgbClr val="555F70"/>
                </a:solidFill>
                <a:latin typeface="Calibri"/>
              </a:rPr>
              <a:t>(DINO+SAM2)</a:t>
            </a:r>
          </a:p>
        </p:txBody>
      </p:sp>
      <p:sp>
        <p:nvSpPr>
          <p:cNvPr id="33" name="Arrow3"/>
          <p:cNvSpPr>
            <a:spLocks noGrp="1"/>
          </p:cNvSpPr>
          <p:nvPr/>
        </p:nvSpPr>
        <p:spPr>
          <a:xfrm>
            <a:off x="77470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Step4"/>
          <p:cNvSpPr>
            <a:spLocks noGrp="1"/>
          </p:cNvSpPr>
          <p:nvPr/>
        </p:nvSpPr>
        <p:spPr>
          <a:xfrm>
            <a:off x="78994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ru-RU" sz="1500" b="1" dirty="0">
                <a:solidFill>
                  <a:srgbClr val="1F4E79"/>
                </a:solidFill>
                <a:latin typeface="Calibri"/>
              </a:rPr>
              <a:t>Генерация</a:t>
            </a:r>
          </a:p>
          <a:p>
            <a:pPr algn="ctr">
              <a:buNone/>
            </a:pPr>
            <a:r>
              <a:rPr lang="ru-RU" sz="1300" dirty="0">
                <a:solidFill>
                  <a:srgbClr val="555F70"/>
                </a:solidFill>
                <a:latin typeface="Calibri"/>
              </a:rPr>
              <a:t>(FLUX.2 Pro)</a:t>
            </a:r>
          </a:p>
        </p:txBody>
      </p:sp>
      <p:sp>
        <p:nvSpPr>
          <p:cNvPr id="34" name="Arrow4"/>
          <p:cNvSpPr>
            <a:spLocks noGrp="1"/>
          </p:cNvSpPr>
          <p:nvPr/>
        </p:nvSpPr>
        <p:spPr>
          <a:xfrm>
            <a:off x="95123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Step5"/>
          <p:cNvSpPr>
            <a:spLocks noGrp="1"/>
          </p:cNvSpPr>
          <p:nvPr/>
        </p:nvSpPr>
        <p:spPr>
          <a:xfrm>
            <a:off x="96647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ru-RU" sz="1500" b="1" dirty="0">
                <a:solidFill>
                  <a:srgbClr val="FFFFFF"/>
                </a:solidFill>
                <a:latin typeface="Calibri"/>
              </a:rPr>
              <a:t>Результат</a:t>
            </a:r>
          </a:p>
        </p:txBody>
      </p:sp>
      <p:sp>
        <p:nvSpPr>
          <p:cNvPr id="40" name="Caption"/>
          <p:cNvSpPr>
            <a:spLocks noGrp="1"/>
          </p:cNvSpPr>
          <p:nvPr/>
        </p:nvSpPr>
        <p:spPr>
          <a:xfrm>
            <a:off x="838200" y="3556000"/>
            <a:ext cx="10515600" cy="203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ctr">
              <a:buNone/>
            </a:pPr>
            <a:r>
              <a:rPr lang="ru-RU" sz="1500" i="1" dirty="0">
                <a:solidFill>
                  <a:srgbClr val="555F70"/>
                </a:solidFill>
                <a:latin typeface="Calibri"/>
              </a:rPr>
              <a:t>Агент сам решает порядок шагов и обрабатывает ошибки</a:t>
            </a:r>
          </a:p>
        </p:txBody>
      </p:sp>
    </p:spTree>
    <p:extLst>
      <p:ext uri="{BB962C8B-B14F-4D97-AF65-F5344CB8AC3E}">
        <p14:creationId xmlns:p14="http://schemas.microsoft.com/office/powerpoint/2010/main" val="162377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658F3-9CD4-551E-0CE2-1693E5D4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2E3169-3950-52BD-EF95-B323F02B9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3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b="1" dirty="0">
                <a:solidFill>
                  <a:srgbClr val="1F4E79"/>
                </a:solidFill>
                <a:latin typeface="Calibri"/>
              </a:rPr>
              <a:t>Агент: </a:t>
            </a:r>
            <a:r>
              <a:rPr lang="ru-RU" sz="1800" dirty="0">
                <a:solidFill>
                  <a:srgbClr val="1A2332"/>
                </a:solidFill>
                <a:latin typeface="Calibri"/>
              </a:rPr>
              <a:t>LangChain ReAct + LLM</a:t>
            </a:r>
          </a:p>
          <a:p>
            <a:pPr marL="285750" indent="-285750">
              <a:lnSpc>
                <a:spcPts val="23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b="1" dirty="0">
                <a:solidFill>
                  <a:srgbClr val="1F4E79"/>
                </a:solidFill>
                <a:latin typeface="Calibri"/>
              </a:rPr>
              <a:t>Сегментация: </a:t>
            </a:r>
            <a:r>
              <a:rPr lang="ru-RU" sz="1800" dirty="0">
                <a:solidFill>
                  <a:srgbClr val="1A2332"/>
                </a:solidFill>
                <a:latin typeface="Calibri"/>
              </a:rPr>
              <a:t>GroundingDINO + SAM 2</a:t>
            </a:r>
          </a:p>
          <a:p>
            <a:pPr marL="285750" indent="-285750">
              <a:lnSpc>
                <a:spcPts val="23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b="1" dirty="0">
                <a:solidFill>
                  <a:srgbClr val="1F4E79"/>
                </a:solidFill>
                <a:latin typeface="Calibri"/>
              </a:rPr>
              <a:t>Генерация: </a:t>
            </a:r>
            <a:r>
              <a:rPr lang="ru-RU" sz="1800" dirty="0">
                <a:solidFill>
                  <a:srgbClr val="1A2332"/>
                </a:solidFill>
                <a:latin typeface="Calibri"/>
              </a:rPr>
              <a:t>FLUX.2 Pro (32 млрд параметров)</a:t>
            </a:r>
          </a:p>
          <a:p>
            <a:pPr marL="285750" indent="-285750">
              <a:lnSpc>
                <a:spcPts val="23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b="1" dirty="0">
                <a:solidFill>
                  <a:srgbClr val="1F4E79"/>
                </a:solidFill>
                <a:latin typeface="Calibri"/>
              </a:rPr>
              <a:t>Поиск: </a:t>
            </a:r>
            <a:r>
              <a:rPr lang="ru-RU" sz="1800" dirty="0">
                <a:solidFill>
                  <a:srgbClr val="1A2332"/>
                </a:solidFill>
                <a:latin typeface="Calibri"/>
              </a:rPr>
              <a:t>sentence-transformers + pgvector</a:t>
            </a:r>
          </a:p>
          <a:p>
            <a:pPr marL="285750" indent="-285750">
              <a:lnSpc>
                <a:spcPts val="23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b="1" dirty="0">
                <a:solidFill>
                  <a:srgbClr val="1F4E79"/>
                </a:solidFill>
                <a:latin typeface="Calibri"/>
              </a:rPr>
              <a:t>Бэкенд: </a:t>
            </a:r>
            <a:r>
              <a:rPr lang="ru-RU" sz="1800" dirty="0">
                <a:solidFill>
                  <a:srgbClr val="1A2332"/>
                </a:solidFill>
                <a:latin typeface="Calibri"/>
              </a:rPr>
              <a:t>FastAPI + SAQ + PostgreSQL</a:t>
            </a:r>
          </a:p>
          <a:p>
            <a:pPr marL="285750" indent="-285750">
              <a:lnSpc>
                <a:spcPts val="23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b="1" dirty="0">
                <a:solidFill>
                  <a:srgbClr val="1F4E79"/>
                </a:solidFill>
                <a:latin typeface="Calibri"/>
              </a:rPr>
              <a:t>Фронтенд: </a:t>
            </a:r>
            <a:r>
              <a:rPr lang="ru-RU" sz="1800" dirty="0">
                <a:solidFill>
                  <a:srgbClr val="1A2332"/>
                </a:solidFill>
                <a:latin typeface="Calibri"/>
              </a:rPr>
              <a:t>SvelteKit</a:t>
            </a:r>
          </a:p>
        </p:txBody>
      </p:sp>
    </p:spTree>
    <p:extLst>
      <p:ext uri="{BB962C8B-B14F-4D97-AF65-F5344CB8AC3E}">
        <p14:creationId xmlns:p14="http://schemas.microsoft.com/office/powerpoint/2010/main" val="196364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72ADF-C5C5-A058-2113-E25C9665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Результаты тестирования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D0A54D-595E-497E-E951-5339DD117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73 сессии, 94,5% завершились успешно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CLIP Score генерации: 0,195 (норма для задач локального редактирования)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Поиск: Precision@1 = 0,70, латентность 25 мс</a:t>
            </a:r>
          </a:p>
          <a:p>
            <a:pPr marL="285750" indent="-285750">
              <a:lnSpc>
                <a:spcPts val="2300"/>
              </a:lnSpc>
              <a:spcBef>
                <a:spcPts val="5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800" dirty="0">
                <a:solidFill>
                  <a:srgbClr val="1A2332"/>
                </a:solidFill>
                <a:latin typeface="Calibri"/>
              </a:rPr>
              <a:t>Выявлено: русские запросы работают хуже из-за английского каталога</a:t>
            </a:r>
          </a:p>
        </p:txBody>
      </p:sp>
    </p:spTree>
    <p:extLst>
      <p:ext uri="{BB962C8B-B14F-4D97-AF65-F5344CB8AC3E}">
        <p14:creationId xmlns:p14="http://schemas.microsoft.com/office/powerpoint/2010/main" val="249869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7842E-8FEB-F039-53A0-75DF782E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2000"/>
            <a:ext cx="10515600" cy="505630"/>
          </a:xfrm>
        </p:spPr>
        <p:txBody>
          <a:bodyPr/>
          <a:lstStyle/>
          <a:p>
            <a:pPr algn="ctr">
              <a:buNone/>
            </a:pPr>
            <a:r>
              <a:rPr lang="ru-RU" sz="2800" b="1" dirty="0">
                <a:solidFill>
                  <a:srgbClr val="1F4E79"/>
                </a:solidFill>
                <a:latin typeface="Georgia"/>
              </a:rPr>
              <a:t>Итоги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4539A0-B487-F7B1-7E44-C871BB82B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7500"/>
            <a:ext cx="10515600" cy="1500187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Разработана полностью автоматизированная система от текстового запроса до фотореалистичного результата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Реализован рабочий прототип с реальными результатами генерации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Архитектура расширяема: новые провайдеры, новые категории товаров</a:t>
            </a:r>
          </a:p>
          <a:p>
            <a:pPr marL="285750" indent="-285750">
              <a:lnSpc>
                <a:spcPts val="2200"/>
              </a:lnSpc>
              <a:spcBef>
                <a:spcPts val="400"/>
              </a:spcBef>
              <a:buClr>
                <a:srgbClr val="1F4E79"/>
              </a:buClr>
              <a:buFont typeface="Arial"/>
              <a:buChar char="•"/>
            </a:pPr>
            <a:r>
              <a:rPr lang="ru-RU" sz="1700" dirty="0">
                <a:solidFill>
                  <a:srgbClr val="1A2332"/>
                </a:solidFill>
                <a:latin typeface="Calibri"/>
              </a:rPr>
              <a:t>Применимо для ритейлеров, маркетплейсов, автосалонов</a:t>
            </a:r>
          </a:p>
        </p:txBody>
      </p:sp>
    </p:spTree>
    <p:extLst>
      <p:ext uri="{BB962C8B-B14F-4D97-AF65-F5344CB8AC3E}">
        <p14:creationId xmlns:p14="http://schemas.microsoft.com/office/powerpoint/2010/main" val="15274181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[1778234557507]">
  <a:themeElements>
    <a:clrScheme name="Стандартная">
      <a:dk1>
        <a:srgbClr val="1A2332"/>
      </a:dk1>
      <a:lt1>
        <a:srgbClr val="FFFFFF"/>
      </a:lt1>
      <a:dk2>
        <a:srgbClr val="2C3E5C"/>
      </a:dk2>
      <a:lt2>
        <a:srgbClr val="F4F6F9"/>
      </a:lt2>
      <a:accent1>
        <a:srgbClr val="1F4E79"/>
      </a:accent1>
      <a:accent2>
        <a:srgbClr val="5B7FA8"/>
      </a:accent2>
      <a:accent3>
        <a:srgbClr val="2E7D5B"/>
      </a:accent3>
      <a:accent4>
        <a:srgbClr val="B8860B"/>
      </a:accent4>
      <a:accent5>
        <a:srgbClr val="8B3A3A"/>
      </a:accent5>
      <a:accent6>
        <a:srgbClr val="5A5A5A"/>
      </a:accent6>
      <a:hlink>
        <a:srgbClr val="467886"/>
      </a:hlink>
      <a:folHlink>
        <a:srgbClr val="96607D"/>
      </a:folHlink>
    </a:clrScheme>
    <a:fontScheme name="Стандартная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F56840-F73B-984C-B376-3268461FB279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bb432b4c-4c49-4af8-bcf7-531efa5ff32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450</Words>
  <Application>Microsoft Macintosh PowerPoint</Application>
  <PresentationFormat>Широкоэкранный</PresentationFormat>
  <Paragraphs>65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Тема Office [1778234557507]</vt:lpstr>
      <vt:lpstr>Сервис обработки изображений с использованием генеративных нейросетей</vt:lpstr>
      <vt:lpstr>Проблема дистанционной торговли</vt:lpstr>
      <vt:lpstr>Возвраты — макроэкономическая проблема</vt:lpstr>
      <vt:lpstr>Почему существующие решения не подходят</vt:lpstr>
      <vt:lpstr>Решение</vt:lpstr>
      <vt:lpstr>TuneAI — веб-приложение</vt:lpstr>
      <vt:lpstr>Рабочий процесс в Parts</vt:lpstr>
      <vt:lpstr>Рабочий процесс в Studio</vt:lpstr>
      <vt:lpstr>Результаты</vt:lpstr>
      <vt:lpstr>Архитектура системы</vt:lpstr>
      <vt:lpstr>Пайплайн системы</vt:lpstr>
      <vt:lpstr>Технологический стек</vt:lpstr>
      <vt:lpstr>Результаты тестирования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Nenashev</dc:creator>
  <cp:lastModifiedBy>Cyril Nenashev</cp:lastModifiedBy>
  <cp:revision>9</cp:revision>
  <dcterms:created xsi:type="dcterms:W3CDTF">2026-05-08T09:48:56Z</dcterms:created>
  <dcterms:modified xsi:type="dcterms:W3CDTF">2026-05-08T12:54:26Z</dcterms:modified>
</cp:coreProperties>
</file>