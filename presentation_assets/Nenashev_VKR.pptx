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9" r:id="rId3"/>
    <p:sldId id="260" r:id="rId4"/>
    <p:sldId id="271" r:id="rId5"/>
    <p:sldId id="262" r:id="rId6"/>
    <p:sldId id="263" r:id="rId7"/>
    <p:sldId id="272" r:id="rId8"/>
    <p:sldId id="264" r:id="rId9"/>
    <p:sldId id="265" r:id="rId10"/>
    <p:sldId id="266" r:id="rId11"/>
    <p:sldId id="275" r:id="rId12"/>
    <p:sldId id="27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75"/>
    <p:restoredTop sz="94683"/>
  </p:normalViewPr>
  <p:slideViewPr>
    <p:cSldViewPr snapToGrid="0">
      <p:cViewPr>
        <p:scale>
          <a:sx n="105" d="100"/>
          <a:sy n="105" d="100"/>
        </p:scale>
        <p:origin x="48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B15D2-8B99-8156-A958-BE083B040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C905BE-3095-AB5C-C15E-2FC586FA3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72C28C-8E1B-160D-23BC-C13EDD02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D70891-D957-0906-9F76-B431ACBA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D9EB0B-F84B-54A4-08BD-F89C5BCE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77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1AC4F5-4F6E-8B00-7C18-888FA00C2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827C4A-4A1F-C0EA-829F-4F85D911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F19B7-2BD8-7BB2-D6F0-0E43CAB00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00D13D-A3B3-865A-3114-3980F866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1299B-920F-68A3-8D94-96E68AC2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12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B7FB5-4F26-E404-3B25-6DACB3A2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10E071-5D97-508C-362F-1913C7C64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D35BD2-51EC-714B-D19F-5F66F056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71241-58F1-591E-3234-BC5D2B95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6FEB49-DEE0-6E28-95B6-EBAF3A4B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70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33E9C-6530-3478-3579-5BC62BD1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329F7C-8CC6-9F09-5C46-F2317E2FC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C45B2F-5683-B450-D81D-7B1057A2B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93A6FB-076F-57F5-3B4D-DA814FB22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009E2A-DE7F-B4CA-0214-F2F5F872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C02F61-4059-5EA9-82BE-FFCA7963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98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05EF3-419E-268C-6B86-6D964E54A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CC7ABA-2D6A-FCB4-C668-087596D62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73731-42BF-B0A4-289D-3B0E29CA6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4C91CA-A83A-403C-7E47-22FE80936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5A08B2-39DA-BF2A-8D5D-8B34BC937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67E4295-C1B9-A2F0-00CD-91BD9D14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A3B2106-DC9E-CB76-9C4F-B97474F1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CDDA59-6376-511D-C013-78280D8F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00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3491F-26B4-F45A-EC0E-B4545103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F3A269-55B9-A49F-9F55-648628C6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82E9D9-1E81-5B71-8C5C-BC53FCC5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E966B0-5EF1-C497-F3EC-F61A92B9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80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15E9D99-9408-AB6F-CD21-6834065B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46DB31-4961-EEB8-3B78-B8DD5E56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F66343-B48F-F3F0-4E8E-58157F29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02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B8279-1C51-F706-3847-4526579C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640CF7-D8CD-835D-4433-AC0EB5F49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1FC875-A957-9B0A-B7A0-513AD805A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C2CAED-89CF-E37A-EA62-A98254EC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352258-9BE7-1180-047B-559509886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E275AE-9AD0-2639-B493-A4A2B0E3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94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4B9B6-02A6-3D27-AB65-C5E04CC2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78BC53-AC04-AC4F-B919-27C2B8E90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CE1CEC-F65A-15E8-9F99-771108E80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F8A5B-6F2D-416D-BF59-7F59222A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606540-E582-B453-8F96-088AD3C9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8ABCE5-840D-A927-0AEE-AACD83F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069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AC3B8-9692-CBB4-A48A-AA16C9B9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EBF0F9-3FCD-3881-C5C8-37C31CB1E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20BC7F-1579-0AE4-A929-177AF2B1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87E48-6ECB-D113-6A22-7A2A4B12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817A49-1878-3B2D-B041-6097D4B1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14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16E1D9-FDC5-11D7-E7A0-01F85EE0C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8976AD-10F9-AA33-2F63-3BE63B51A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A4B7DF-4EAE-F647-51E9-945D3317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0E4C80-7024-DB59-E143-58B74AF9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2CF57-D7C7-A5D8-1F18-260109D6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00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5E675-7E84-1A68-885A-6E93AF8F3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ADE81A-76D0-8D48-B849-1242DF2E5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B5DAD1-5933-E0DF-3B4D-7C2C4CAA1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4E9AB-7BDB-E749-8AD2-2FCEC93E13CB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722E8C-1C63-1126-2B76-B8127922C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3C3AF7-F6FA-2A48-4D23-28E62A4B7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62E31-80C9-1544-9A2A-65C64E97A6BF}" type="slidenum">
              <a:rPr lang="ru-RU" smtClean="0"/>
              <a:t>‹#›</a:t>
            </a:fld>
            <a:endParaRPr lang="ru-RU"/>
          </a:p>
        </p:txBody>
      </p:sp>
      <p:sp>
        <p:nvSpPr>
          <p:cNvPr id="900" name="AccentBar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471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E284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A6369-DA00-F5EF-B4E7-AD150C6F58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СЕРВИС ОБРАБОТКИ ИЗОБРАЖЕНИЙ С ИСПОЛЬЗОВАНИЕМ ГЕНЕРАТИВНЫХ НЕЙРОСЕТЕЙ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7898C0-1B4F-3272-1ECB-5686C47526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u-RU" sz="2000" b="1" dirty="0">
                <a:solidFill>
                  <a:srgbClr val="E97132"/>
                </a:solidFill>
              </a:rPr>
              <a:t>Выпускная квалификационная работа</a:t>
            </a:r>
          </a:p>
          <a:p>
            <a:pPr algn="ctr">
              <a:spcBef>
                <a:spcPts val="1200"/>
              </a:spcBef>
            </a:pPr>
            <a:r>
              <a:rPr lang="ru-RU" sz="1600" dirty="0">
                <a:solidFill>
                  <a:srgbClr val="1A1A1A"/>
                </a:solidFill>
              </a:rPr>
              <a:t>Автор: Ненашев К. А.</a:t>
            </a:r>
          </a:p>
          <a:p>
            <a:pPr algn="ctr"/>
            <a:r>
              <a:rPr lang="ru-RU" sz="1600" dirty="0">
                <a:solidFill>
                  <a:srgbClr val="1A1A1A"/>
                </a:solidFill>
              </a:rPr>
              <a:t>Научный руководитель:</a:t>
            </a:r>
            <a:r>
              <a:rPr lang="en-US" sz="1600" dirty="0">
                <a:solidFill>
                  <a:srgbClr val="1A1A1A"/>
                </a:solidFill>
              </a:rPr>
              <a:t> </a:t>
            </a:r>
            <a:r>
              <a:rPr lang="ru-RU" sz="1600" dirty="0">
                <a:solidFill>
                  <a:srgbClr val="1A1A1A"/>
                </a:solidFill>
              </a:rPr>
              <a:t>Синица С</a:t>
            </a:r>
            <a:r>
              <a:rPr lang="en-US" sz="1600" dirty="0">
                <a:solidFill>
                  <a:srgbClr val="1A1A1A"/>
                </a:solidFill>
              </a:rPr>
              <a:t>. </a:t>
            </a:r>
            <a:r>
              <a:rPr lang="ru-RU" sz="1600" dirty="0">
                <a:solidFill>
                  <a:srgbClr val="1A1A1A"/>
                </a:solidFill>
              </a:rPr>
              <a:t>Г</a:t>
            </a:r>
            <a:r>
              <a:rPr lang="en-US" sz="1600" dirty="0">
                <a:solidFill>
                  <a:srgbClr val="1A1A1A"/>
                </a:solidFill>
              </a:rPr>
              <a:t>.</a:t>
            </a:r>
            <a:endParaRPr lang="ru-RU" sz="1600" dirty="0">
              <a:solidFill>
                <a:srgbClr val="1A1A1A"/>
              </a:solidFill>
            </a:endParaRPr>
          </a:p>
          <a:p>
            <a:pPr algn="ctr"/>
            <a:r>
              <a:rPr lang="ru-RU" sz="1600" dirty="0">
                <a:solidFill>
                  <a:srgbClr val="1A1A1A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19366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E0CB2-5308-754A-F651-8299B000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Проблема возвратов в </a:t>
            </a:r>
            <a:r>
              <a:rPr lang="en"/>
              <a:t>e-commerce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B77ABB-648C-CC45-8C36-1AB5EBABD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68488"/>
            <a:ext cx="6350000" cy="4532311"/>
          </a:xfrm>
        </p:spPr>
        <p:txBody>
          <a:bodyPr>
            <a:normAutofit/>
          </a:bodyPr>
          <a:lstStyle/>
          <a:p>
            <a:r>
              <a:rPr lang="en" sz="1800">
                <a:solidFill>
                  <a:srgbClr val="1A1A1A"/>
                </a:solidFill>
              </a:rPr>
              <a:t>E-commerce </a:t>
            </a:r>
            <a:r>
              <a:rPr lang="ru-RU" sz="1800">
                <a:solidFill>
                  <a:srgbClr val="1A1A1A"/>
                </a:solidFill>
              </a:rPr>
              <a:t>растёт стремительно: РФ +41% в 2024, оборот &gt;11 трлн ₽
Покупатель не может оценить товар до покупки
Возвраты 17–30%; ущерб в США — $890 млрд за 2024
Для тюнинга, аксессуаров и интерьера примерка физически невозможна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FABC5C49-A2D6-9344-895D-1F3469C49D58}"/>
              </a:ext>
            </a:extLst>
          </p:cNvPr>
          <p:cNvSpPr/>
          <p:nvPr/>
        </p:nvSpPr>
        <p:spPr>
          <a:xfrm>
            <a:off x="7302500" y="1868488"/>
            <a:ext cx="4279900" cy="4532311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400">
                <a:solidFill>
                  <a:srgbClr val="5A6470"/>
                </a:solidFill>
              </a:rPr>
              <a:t>[МЕСТО ПОД ИЗОБРАЖЕНИЕ]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5FB1D9-8292-DA75-7BA8-4C2EA93B0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868487"/>
            <a:ext cx="4279900" cy="453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77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178E6-09F0-1A0F-D81D-235403AC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Решение: показать товар до покупки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D9A012-1B78-1741-868F-792495AE5AC6}"/>
              </a:ext>
            </a:extLst>
          </p:cNvPr>
          <p:cNvSpPr/>
          <p:nvPr/>
        </p:nvSpPr>
        <p:spPr>
          <a:xfrm>
            <a:off x="762000" y="1843088"/>
            <a:ext cx="10668000" cy="736600"/>
          </a:xfrm>
          <a:prstGeom prst="rect">
            <a:avLst/>
          </a:prstGeom>
          <a:solidFill>
            <a:srgbClr val="EA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9408FD4-C6A0-8E46-BA0F-118A5ADF6590}"/>
              </a:ext>
            </a:extLst>
          </p:cNvPr>
          <p:cNvSpPr/>
          <p:nvPr/>
        </p:nvSpPr>
        <p:spPr>
          <a:xfrm>
            <a:off x="762000" y="1843088"/>
            <a:ext cx="88900" cy="736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A00F0-83BF-FD49-A559-2F0494E070E2}"/>
              </a:ext>
            </a:extLst>
          </p:cNvPr>
          <p:cNvSpPr txBox="1"/>
          <p:nvPr/>
        </p:nvSpPr>
        <p:spPr>
          <a:xfrm>
            <a:off x="1066800" y="1843088"/>
            <a:ext cx="101600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ru-RU" sz="1700" b="1">
                <a:solidFill>
                  <a:srgbClr val="0E2841"/>
                </a:solidFill>
              </a:rPr>
              <a:t>Сервис, который по фото покупателя и текстовому запросу показывает, как товар будет выглядеть в его контексте — ещё до покупки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CA3E15A-6A30-7747-84D1-A96DBCD8CFD4}"/>
              </a:ext>
            </a:extLst>
          </p:cNvPr>
          <p:cNvSpPr/>
          <p:nvPr/>
        </p:nvSpPr>
        <p:spPr>
          <a:xfrm>
            <a:off x="762000" y="2782888"/>
            <a:ext cx="5143500" cy="3211511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511059-B8E6-914C-B03F-4DEFDA898ECE}"/>
              </a:ext>
            </a:extLst>
          </p:cNvPr>
          <p:cNvSpPr/>
          <p:nvPr/>
        </p:nvSpPr>
        <p:spPr>
          <a:xfrm>
            <a:off x="762000" y="2782888"/>
            <a:ext cx="5143500" cy="533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700" b="1">
                <a:solidFill>
                  <a:srgbClr val="FFFFFF"/>
                </a:solidFill>
              </a:rPr>
              <a:t>Логика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27ECA-67C1-B14C-A864-705DFB334433}"/>
              </a:ext>
            </a:extLst>
          </p:cNvPr>
          <p:cNvSpPr txBox="1"/>
          <p:nvPr/>
        </p:nvSpPr>
        <p:spPr>
          <a:xfrm>
            <a:off x="1016000" y="3468688"/>
            <a:ext cx="4635500" cy="2373311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600" dirty="0">
                <a:solidFill>
                  <a:srgbClr val="1A1A1A"/>
                </a:solidFill>
              </a:rPr>
              <a:t>•  Покупатель видит товар на своём объекте → меньше неопределённости → меньше возвратов
•  Не просто примерка одежды на человеке, а визуализация любого товара на фото покупателя (авто, интерьер, аксессуары)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478B14AE-F41A-E644-BA4F-7C31D3F62BC9}"/>
              </a:ext>
            </a:extLst>
          </p:cNvPr>
          <p:cNvSpPr/>
          <p:nvPr/>
        </p:nvSpPr>
        <p:spPr>
          <a:xfrm>
            <a:off x="6286500" y="2782888"/>
            <a:ext cx="5143500" cy="3211511"/>
          </a:xfrm>
          <a:prstGeom prst="roundRect">
            <a:avLst/>
          </a:prstGeom>
          <a:solidFill>
            <a:srgbClr val="FBE2D5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DBC8C6-000A-EE43-AE19-EA414EFDB431}"/>
              </a:ext>
            </a:extLst>
          </p:cNvPr>
          <p:cNvSpPr/>
          <p:nvPr/>
        </p:nvSpPr>
        <p:spPr>
          <a:xfrm>
            <a:off x="6286500" y="2782888"/>
            <a:ext cx="5143500" cy="5334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700" b="1">
                <a:solidFill>
                  <a:srgbClr val="FFFFFF"/>
                </a:solidFill>
              </a:rPr>
              <a:t>Рынок уже идёт сюда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05A97-B3C2-0A4F-B1D2-220E6679DE3A}"/>
              </a:ext>
            </a:extLst>
          </p:cNvPr>
          <p:cNvSpPr txBox="1"/>
          <p:nvPr/>
        </p:nvSpPr>
        <p:spPr>
          <a:xfrm>
            <a:off x="6540500" y="3468688"/>
            <a:ext cx="4635500" cy="2373311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" sz="1600" dirty="0">
                <a:solidFill>
                  <a:srgbClr val="1A1A1A"/>
                </a:solidFill>
              </a:rPr>
              <a:t>•  30.01.2026 Ultima «</a:t>
            </a:r>
            <a:r>
              <a:rPr lang="ru-RU" sz="1600" dirty="0">
                <a:solidFill>
                  <a:srgbClr val="1A1A1A"/>
                </a:solidFill>
              </a:rPr>
              <a:t>Яндекс Маркета» запустила </a:t>
            </a:r>
            <a:r>
              <a:rPr lang="en" sz="1600" dirty="0">
                <a:solidFill>
                  <a:srgbClr val="1A1A1A"/>
                </a:solidFill>
              </a:rPr>
              <a:t>AI-</a:t>
            </a:r>
            <a:r>
              <a:rPr lang="ru-RU" sz="1600" dirty="0">
                <a:solidFill>
                  <a:srgbClr val="1A1A1A"/>
                </a:solidFill>
              </a:rPr>
              <a:t>примерку одежды 
•  2025 </a:t>
            </a:r>
            <a:r>
              <a:rPr lang="en-US" sz="1600" dirty="0">
                <a:solidFill>
                  <a:srgbClr val="1A1A1A"/>
                </a:solidFill>
              </a:rPr>
              <a:t>Google Try – On</a:t>
            </a:r>
            <a:r>
              <a:rPr lang="ru-RU" sz="1600" dirty="0">
                <a:solidFill>
                  <a:srgbClr val="1A1A1A"/>
                </a:solidFill>
              </a:rPr>
              <a:t> (</a:t>
            </a:r>
            <a:r>
              <a:rPr lang="en-US" sz="1600" dirty="0">
                <a:solidFill>
                  <a:srgbClr val="1A1A1A"/>
                </a:solidFill>
              </a:rPr>
              <a:t>AI Mode)</a:t>
            </a:r>
          </a:p>
          <a:p>
            <a:pPr algn="l"/>
            <a:endParaRPr lang="en-US" sz="1600" dirty="0">
              <a:solidFill>
                <a:srgbClr val="1A1A1A"/>
              </a:solidFill>
            </a:endParaRPr>
          </a:p>
          <a:p>
            <a:r>
              <a:rPr lang="ru-RU" sz="1600" dirty="0">
                <a:solidFill>
                  <a:srgbClr val="1A1A1A"/>
                </a:solidFill>
              </a:rPr>
              <a:t>• 2023 </a:t>
            </a:r>
            <a:r>
              <a:rPr lang="en-US" sz="1600" dirty="0">
                <a:solidFill>
                  <a:srgbClr val="1A1A1A"/>
                </a:solidFill>
              </a:rPr>
              <a:t>Amazon Try - On</a:t>
            </a:r>
            <a:endParaRPr lang="ru-RU" sz="1600" dirty="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709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078F5-6F96-737E-4499-463C453B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Цель и задачи</a:t>
            </a:r>
          </a:p>
        </p:txBody>
      </p:sp>
      <p:sp>
        <p:nvSpPr>
          <p:cNvPr id="3" name="GoalBox">
            <a:extLst>
              <a:ext uri="{FF2B5EF4-FFF2-40B4-BE49-F238E27FC236}">
                <a16:creationId xmlns:a16="http://schemas.microsoft.com/office/drawing/2014/main" id="{9E8271AB-4518-6449-94F1-CDABD7D41C2F}"/>
              </a:ext>
            </a:extLst>
          </p:cNvPr>
          <p:cNvSpPr/>
          <p:nvPr/>
        </p:nvSpPr>
        <p:spPr>
          <a:xfrm>
            <a:off x="762000" y="1868488"/>
            <a:ext cx="10668000" cy="1168400"/>
          </a:xfrm>
          <a:prstGeom prst="rect">
            <a:avLst/>
          </a:prstGeom>
          <a:solidFill>
            <a:srgbClr val="FBE2D5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0E2841"/>
                </a:solidFill>
              </a:rPr>
              <a:t>Цель: разработать систему </a:t>
            </a:r>
            <a:r>
              <a:rPr lang="en" b="1">
                <a:solidFill>
                  <a:srgbClr val="0E2841"/>
                </a:solidFill>
              </a:rPr>
              <a:t>AI-</a:t>
            </a:r>
            <a:r>
              <a:rPr lang="ru-RU" b="1">
                <a:solidFill>
                  <a:srgbClr val="0E2841"/>
                </a:solidFill>
              </a:rPr>
              <a:t>визуализации товара на объекте покупателя по фотографии и текстовому запросу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6615A-6D99-754E-96B7-66471A0B6625}"/>
              </a:ext>
            </a:extLst>
          </p:cNvPr>
          <p:cNvSpPr txBox="1"/>
          <p:nvPr/>
        </p:nvSpPr>
        <p:spPr>
          <a:xfrm>
            <a:off x="762000" y="3189288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b="1">
                <a:solidFill>
                  <a:srgbClr val="0E2841"/>
                </a:solidFill>
              </a:rPr>
              <a:t>Задачи: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F1E50-DF12-EA4D-8E3F-31ECDECDC6F4}"/>
              </a:ext>
            </a:extLst>
          </p:cNvPr>
          <p:cNvSpPr txBox="1"/>
          <p:nvPr/>
        </p:nvSpPr>
        <p:spPr>
          <a:xfrm>
            <a:off x="762000" y="3646488"/>
            <a:ext cx="5207000" cy="149784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42900" indent="-342900" algn="l">
              <a:buNone/>
            </a:pPr>
            <a:r>
              <a:rPr lang="ru-RU" sz="1700" dirty="0">
                <a:solidFill>
                  <a:srgbClr val="1A1A1A"/>
                </a:solidFill>
              </a:rPr>
              <a:t>1.  Анализ проблематики и аналогов</a:t>
            </a:r>
          </a:p>
          <a:p>
            <a:pPr marL="342900" indent="-342900" algn="l">
              <a:spcBef>
                <a:spcPts val="1400"/>
              </a:spcBef>
              <a:buNone/>
            </a:pPr>
            <a:r>
              <a:rPr lang="ru-RU" sz="1700" dirty="0">
                <a:solidFill>
                  <a:srgbClr val="1A1A1A"/>
                </a:solidFill>
              </a:rPr>
              <a:t>2.  Проектирование архитектуры</a:t>
            </a:r>
          </a:p>
          <a:p>
            <a:pPr marL="342900" indent="-342900" algn="l">
              <a:spcBef>
                <a:spcPts val="1400"/>
              </a:spcBef>
              <a:buNone/>
            </a:pPr>
            <a:r>
              <a:rPr lang="ru-RU" sz="1700" dirty="0">
                <a:solidFill>
                  <a:srgbClr val="1A1A1A"/>
                </a:solidFill>
              </a:rPr>
              <a:t>3.  Создание необходимых компонентов и конвейера для обработки изображения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CC0E6-0722-0B4A-8BA8-2E214B4FA5F3}"/>
              </a:ext>
            </a:extLst>
          </p:cNvPr>
          <p:cNvSpPr txBox="1"/>
          <p:nvPr/>
        </p:nvSpPr>
        <p:spPr>
          <a:xfrm>
            <a:off x="6223000" y="3646488"/>
            <a:ext cx="5207000" cy="149784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42900" indent="-342900" algn="l">
              <a:buNone/>
            </a:pPr>
            <a:r>
              <a:rPr lang="ru-RU" sz="1700" dirty="0">
                <a:solidFill>
                  <a:srgbClr val="1A1A1A"/>
                </a:solidFill>
              </a:rPr>
              <a:t>4.  Реализация ИИ-агента, управляющего конвейером</a:t>
            </a:r>
          </a:p>
          <a:p>
            <a:pPr marL="342900" indent="-342900" algn="l">
              <a:spcBef>
                <a:spcPts val="1400"/>
              </a:spcBef>
              <a:buNone/>
            </a:pPr>
            <a:r>
              <a:rPr lang="ru-RU" sz="1700" dirty="0">
                <a:solidFill>
                  <a:srgbClr val="1A1A1A"/>
                </a:solidFill>
              </a:rPr>
              <a:t>5.  Сервис каталога с семантическим поиском</a:t>
            </a:r>
          </a:p>
          <a:p>
            <a:pPr marL="342900" indent="-342900" algn="l">
              <a:spcBef>
                <a:spcPts val="1400"/>
              </a:spcBef>
              <a:buNone/>
            </a:pPr>
            <a:r>
              <a:rPr lang="ru-RU" sz="1700" dirty="0">
                <a:solidFill>
                  <a:srgbClr val="1A1A1A"/>
                </a:solidFill>
              </a:rPr>
              <a:t>6.  Тестирование и оценка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254703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CBE3E-112C-05D0-29CE-8987F81A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Аналоги и рыночный пробел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130F0522-4CE4-DA4C-AF49-91F56B6E36FE}"/>
              </a:ext>
            </a:extLst>
          </p:cNvPr>
          <p:cNvSpPr/>
          <p:nvPr/>
        </p:nvSpPr>
        <p:spPr>
          <a:xfrm>
            <a:off x="762000" y="1868488"/>
            <a:ext cx="5080000" cy="3759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3395E7B-3C53-4349-9B10-A95A10D72605}"/>
              </a:ext>
            </a:extLst>
          </p:cNvPr>
          <p:cNvSpPr/>
          <p:nvPr/>
        </p:nvSpPr>
        <p:spPr>
          <a:xfrm>
            <a:off x="762000" y="1868488"/>
            <a:ext cx="5080000" cy="6096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FFFFFF"/>
                </a:solidFill>
              </a:rPr>
              <a:t>Существует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0EC49-FB92-F74D-A6A9-6C9B585BDEC2}"/>
              </a:ext>
            </a:extLst>
          </p:cNvPr>
          <p:cNvSpPr txBox="1"/>
          <p:nvPr/>
        </p:nvSpPr>
        <p:spPr>
          <a:xfrm>
            <a:off x="990600" y="2655888"/>
            <a:ext cx="4622800" cy="8771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700" dirty="0">
                <a:solidFill>
                  <a:srgbClr val="1A1A1A"/>
                </a:solidFill>
              </a:rPr>
              <a:t>•  Виртуальная примерка одежды</a:t>
            </a:r>
            <a:r>
              <a:rPr lang="en" sz="1700" dirty="0">
                <a:solidFill>
                  <a:srgbClr val="1A1A1A"/>
                </a:solidFill>
              </a:rPr>
              <a:t>
•  </a:t>
            </a:r>
            <a:r>
              <a:rPr lang="ru-RU" sz="1700" dirty="0">
                <a:solidFill>
                  <a:srgbClr val="1A1A1A"/>
                </a:solidFill>
              </a:rPr>
              <a:t>Расстановка мебели в </a:t>
            </a:r>
            <a:r>
              <a:rPr lang="en" sz="1700" dirty="0">
                <a:solidFill>
                  <a:srgbClr val="1A1A1A"/>
                </a:solidFill>
              </a:rPr>
              <a:t>AR</a:t>
            </a:r>
            <a:endParaRPr lang="ru-RU" sz="1700" dirty="0">
              <a:solidFill>
                <a:srgbClr val="1A1A1A"/>
              </a:solidFill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5CBCAF08-51BF-1E49-8D3D-CF645B85C167}"/>
              </a:ext>
            </a:extLst>
          </p:cNvPr>
          <p:cNvSpPr/>
          <p:nvPr/>
        </p:nvSpPr>
        <p:spPr>
          <a:xfrm>
            <a:off x="6350000" y="1868488"/>
            <a:ext cx="5080000" cy="3759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011D279-A4D1-3043-BADC-57A9A6C93680}"/>
              </a:ext>
            </a:extLst>
          </p:cNvPr>
          <p:cNvSpPr/>
          <p:nvPr/>
        </p:nvSpPr>
        <p:spPr>
          <a:xfrm>
            <a:off x="6350000" y="1868488"/>
            <a:ext cx="5080000" cy="6096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b="1">
                <a:solidFill>
                  <a:srgbClr val="FFFFFF"/>
                </a:solidFill>
              </a:rPr>
              <a:t>Ограничения / пробел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01ABF-75CB-8B42-ACF7-C1A166D827E8}"/>
              </a:ext>
            </a:extLst>
          </p:cNvPr>
          <p:cNvSpPr txBox="1"/>
          <p:nvPr/>
        </p:nvSpPr>
        <p:spPr>
          <a:xfrm>
            <a:off x="6578600" y="2655888"/>
            <a:ext cx="4622800" cy="276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700">
                <a:solidFill>
                  <a:srgbClr val="1A1A1A"/>
                </a:solidFill>
              </a:rPr>
              <a:t>•  Узкие, заранее заданные категории
•  Требуются готовые 3</a:t>
            </a:r>
            <a:r>
              <a:rPr lang="en" sz="1700">
                <a:solidFill>
                  <a:srgbClr val="1A1A1A"/>
                </a:solidFill>
              </a:rPr>
              <a:t>D-</a:t>
            </a:r>
            <a:r>
              <a:rPr lang="ru-RU" sz="1700">
                <a:solidFill>
                  <a:srgbClr val="1A1A1A"/>
                </a:solidFill>
              </a:rPr>
              <a:t>модели
•  Привязка к конкретному товару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BBD55D3-0B01-E54E-893C-EE393A9F3780}"/>
              </a:ext>
            </a:extLst>
          </p:cNvPr>
          <p:cNvSpPr/>
          <p:nvPr/>
        </p:nvSpPr>
        <p:spPr>
          <a:xfrm>
            <a:off x="762000" y="5780088"/>
            <a:ext cx="10668000" cy="939800"/>
          </a:xfrm>
          <a:prstGeom prst="rect">
            <a:avLst/>
          </a:prstGeom>
          <a:solidFill>
            <a:srgbClr val="EAF0F5"/>
          </a:solidFill>
          <a:ln w="15875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700" b="1" dirty="0">
                <a:solidFill>
                  <a:srgbClr val="0E2841"/>
                </a:solidFill>
              </a:rPr>
              <a:t>→  Нет решения для произвольного товара на произвольном фото по текстовому запросу</a:t>
            </a:r>
          </a:p>
        </p:txBody>
      </p:sp>
    </p:spTree>
    <p:extLst>
      <p:ext uri="{BB962C8B-B14F-4D97-AF65-F5344CB8AC3E}">
        <p14:creationId xmlns:p14="http://schemas.microsoft.com/office/powerpoint/2010/main" val="4276825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DF25F-4669-3BF7-4F7A-355A8790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 решения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12144BB-4675-CF45-B279-41DD6C2D6E92}"/>
              </a:ext>
            </a:extLst>
          </p:cNvPr>
          <p:cNvSpPr/>
          <p:nvPr/>
        </p:nvSpPr>
        <p:spPr>
          <a:xfrm>
            <a:off x="762000" y="1944688"/>
            <a:ext cx="3048000" cy="1905000"/>
          </a:xfrm>
          <a:prstGeom prst="rect">
            <a:avLst/>
          </a:prstGeom>
          <a:solidFill>
            <a:srgbClr val="EAF0F5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400">
                <a:solidFill>
                  <a:srgbClr val="0E2841"/>
                </a:solidFill>
              </a:rPr>
              <a:t>ВХОД
Фото объекта покупателя + текстовый запрос: «поставь карбоновый спойлер»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C05094-B25C-0C44-9D84-ADE98BCE8EE6}"/>
              </a:ext>
            </a:extLst>
          </p:cNvPr>
          <p:cNvSpPr/>
          <p:nvPr/>
        </p:nvSpPr>
        <p:spPr>
          <a:xfrm>
            <a:off x="4572000" y="1944688"/>
            <a:ext cx="3048000" cy="1905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700" b="1">
                <a:solidFill>
                  <a:srgbClr val="FFFFFF"/>
                </a:solidFill>
              </a:rPr>
              <a:t>СИСТЕМА
</a:t>
            </a:r>
            <a:r>
              <a:rPr lang="en" sz="1700" b="1">
                <a:solidFill>
                  <a:srgbClr val="FFFFFF"/>
                </a:solidFill>
              </a:rPr>
              <a:t>AI-</a:t>
            </a:r>
            <a:r>
              <a:rPr lang="ru-RU" sz="1700" b="1">
                <a:solidFill>
                  <a:srgbClr val="FFFFFF"/>
                </a:solidFill>
              </a:rPr>
              <a:t>визуализации
(чёрный ящик)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AEFB80-D998-A148-A0CD-40EB03FCBF0B}"/>
              </a:ext>
            </a:extLst>
          </p:cNvPr>
          <p:cNvSpPr/>
          <p:nvPr/>
        </p:nvSpPr>
        <p:spPr>
          <a:xfrm>
            <a:off x="8382000" y="1944688"/>
            <a:ext cx="3048000" cy="1905000"/>
          </a:xfrm>
          <a:prstGeom prst="rect">
            <a:avLst/>
          </a:prstGeom>
          <a:solidFill>
            <a:srgbClr val="FBE2D5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400">
                <a:solidFill>
                  <a:srgbClr val="0E2841"/>
                </a:solidFill>
              </a:rPr>
              <a:t>ВЫХОД
Фотореалистичное фото с применённой деталью</a:t>
            </a:r>
          </a:p>
        </p:txBody>
      </p:sp>
      <p:sp>
        <p:nvSpPr>
          <p:cNvPr id="6" name="Стрелка вправо 5">
            <a:extLst>
              <a:ext uri="{FF2B5EF4-FFF2-40B4-BE49-F238E27FC236}">
                <a16:creationId xmlns:a16="http://schemas.microsoft.com/office/drawing/2014/main" id="{611B04AF-A821-F34D-8C7B-A8322548125F}"/>
              </a:ext>
            </a:extLst>
          </p:cNvPr>
          <p:cNvSpPr/>
          <p:nvPr/>
        </p:nvSpPr>
        <p:spPr>
          <a:xfrm>
            <a:off x="3860800" y="2693988"/>
            <a:ext cx="660400" cy="406400"/>
          </a:xfrm>
          <a:prstGeom prst="right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" name="Стрелка вправо 6">
            <a:extLst>
              <a:ext uri="{FF2B5EF4-FFF2-40B4-BE49-F238E27FC236}">
                <a16:creationId xmlns:a16="http://schemas.microsoft.com/office/drawing/2014/main" id="{F2A0B669-989B-9C44-BEAC-C5891050AFDC}"/>
              </a:ext>
            </a:extLst>
          </p:cNvPr>
          <p:cNvSpPr/>
          <p:nvPr/>
        </p:nvSpPr>
        <p:spPr>
          <a:xfrm>
            <a:off x="7670800" y="2693988"/>
            <a:ext cx="660400" cy="406400"/>
          </a:xfrm>
          <a:prstGeom prst="right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E34CC-E3E8-5F44-926E-DD7757DC79D3}"/>
              </a:ext>
            </a:extLst>
          </p:cNvPr>
          <p:cNvSpPr txBox="1"/>
          <p:nvPr/>
        </p:nvSpPr>
        <p:spPr>
          <a:xfrm>
            <a:off x="762000" y="4052888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600" b="1">
                <a:solidFill>
                  <a:srgbClr val="156082"/>
                </a:solidFill>
              </a:rPr>
              <a:t>Всё между входом и выходом автоматизировано — ручной подготовки не требуется</a:t>
            </a:r>
          </a:p>
        </p:txBody>
      </p:sp>
    </p:spTree>
    <p:extLst>
      <p:ext uri="{BB962C8B-B14F-4D97-AF65-F5344CB8AC3E}">
        <p14:creationId xmlns:p14="http://schemas.microsoft.com/office/powerpoint/2010/main" val="42183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5196D-469B-F60B-4977-BBEE8320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Более детальное решение системы</a:t>
            </a:r>
            <a:endParaRPr lang="ru-RU" dirty="0"/>
          </a:p>
        </p:txBody>
      </p:sp>
      <p:sp>
        <p:nvSpPr>
          <p:cNvPr id="3" name="Step0">
            <a:extLst>
              <a:ext uri="{FF2B5EF4-FFF2-40B4-BE49-F238E27FC236}">
                <a16:creationId xmlns:a16="http://schemas.microsoft.com/office/drawing/2014/main" id="{B02FCE73-0E20-22BB-B960-EEA438D6D9B7}"/>
              </a:ext>
            </a:extLst>
          </p:cNvPr>
          <p:cNvSpPr>
            <a:spLocks noGrp="1"/>
          </p:cNvSpPr>
          <p:nvPr/>
        </p:nvSpPr>
        <p:spPr>
          <a:xfrm>
            <a:off x="8382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0E2841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buNone/>
            </a:pPr>
            <a:r>
              <a:rPr lang="ru-RU" sz="1400" b="1" dirty="0">
                <a:solidFill>
                  <a:srgbClr val="0E2841"/>
                </a:solidFill>
                <a:latin typeface="Calibri"/>
              </a:rPr>
              <a:t>Запрос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0E2841"/>
                </a:solidFill>
                <a:latin typeface="Calibri"/>
              </a:rPr>
              <a:t>пользователя</a:t>
            </a:r>
          </a:p>
        </p:txBody>
      </p:sp>
      <p:sp>
        <p:nvSpPr>
          <p:cNvPr id="4" name="Arrow0">
            <a:extLst>
              <a:ext uri="{FF2B5EF4-FFF2-40B4-BE49-F238E27FC236}">
                <a16:creationId xmlns:a16="http://schemas.microsoft.com/office/drawing/2014/main" id="{C1D35926-2C70-09E7-06E0-59A4BC6D4366}"/>
              </a:ext>
            </a:extLst>
          </p:cNvPr>
          <p:cNvSpPr>
            <a:spLocks noGrp="1"/>
          </p:cNvSpPr>
          <p:nvPr/>
        </p:nvSpPr>
        <p:spPr>
          <a:xfrm>
            <a:off x="24511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tep1">
            <a:extLst>
              <a:ext uri="{FF2B5EF4-FFF2-40B4-BE49-F238E27FC236}">
                <a16:creationId xmlns:a16="http://schemas.microsoft.com/office/drawing/2014/main" id="{0247CAFA-7F25-FFB2-46ED-23A4882081EA}"/>
              </a:ext>
            </a:extLst>
          </p:cNvPr>
          <p:cNvSpPr>
            <a:spLocks noGrp="1"/>
          </p:cNvSpPr>
          <p:nvPr/>
        </p:nvSpPr>
        <p:spPr>
          <a:xfrm>
            <a:off x="26035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E97132"/>
          </a:solidFill>
          <a:ln w="19050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LLM-агент</a:t>
            </a:r>
          </a:p>
        </p:txBody>
      </p:sp>
      <p:sp>
        <p:nvSpPr>
          <p:cNvPr id="6" name="Arrow1">
            <a:extLst>
              <a:ext uri="{FF2B5EF4-FFF2-40B4-BE49-F238E27FC236}">
                <a16:creationId xmlns:a16="http://schemas.microsoft.com/office/drawing/2014/main" id="{B136CAE7-0DDA-7622-DC6B-926A32ED81AA}"/>
              </a:ext>
            </a:extLst>
          </p:cNvPr>
          <p:cNvSpPr>
            <a:spLocks noGrp="1"/>
          </p:cNvSpPr>
          <p:nvPr/>
        </p:nvSpPr>
        <p:spPr>
          <a:xfrm>
            <a:off x="42164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tep2">
            <a:extLst>
              <a:ext uri="{FF2B5EF4-FFF2-40B4-BE49-F238E27FC236}">
                <a16:creationId xmlns:a16="http://schemas.microsoft.com/office/drawing/2014/main" id="{F20D93FA-B4EC-08B8-FE75-752021CEEEE3}"/>
              </a:ext>
            </a:extLst>
          </p:cNvPr>
          <p:cNvSpPr>
            <a:spLocks noGrp="1"/>
          </p:cNvSpPr>
          <p:nvPr/>
        </p:nvSpPr>
        <p:spPr>
          <a:xfrm>
            <a:off x="43688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 w="19050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Поиск детали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(pgvector)</a:t>
            </a:r>
          </a:p>
        </p:txBody>
      </p:sp>
      <p:sp>
        <p:nvSpPr>
          <p:cNvPr id="8" name="Arrow2">
            <a:extLst>
              <a:ext uri="{FF2B5EF4-FFF2-40B4-BE49-F238E27FC236}">
                <a16:creationId xmlns:a16="http://schemas.microsoft.com/office/drawing/2014/main" id="{F8E566E1-0D50-2BBC-82DA-F1147F7FEE94}"/>
              </a:ext>
            </a:extLst>
          </p:cNvPr>
          <p:cNvSpPr>
            <a:spLocks noGrp="1"/>
          </p:cNvSpPr>
          <p:nvPr/>
        </p:nvSpPr>
        <p:spPr>
          <a:xfrm>
            <a:off x="59817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tep3">
            <a:extLst>
              <a:ext uri="{FF2B5EF4-FFF2-40B4-BE49-F238E27FC236}">
                <a16:creationId xmlns:a16="http://schemas.microsoft.com/office/drawing/2014/main" id="{561CDC66-DB3F-1858-5CDD-56B1C9E22AE4}"/>
              </a:ext>
            </a:extLst>
          </p:cNvPr>
          <p:cNvSpPr>
            <a:spLocks noGrp="1"/>
          </p:cNvSpPr>
          <p:nvPr/>
        </p:nvSpPr>
        <p:spPr>
          <a:xfrm>
            <a:off x="61341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 w="19050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Сегментация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(DINO+SAM2)</a:t>
            </a:r>
          </a:p>
        </p:txBody>
      </p:sp>
      <p:sp>
        <p:nvSpPr>
          <p:cNvPr id="10" name="Arrow3">
            <a:extLst>
              <a:ext uri="{FF2B5EF4-FFF2-40B4-BE49-F238E27FC236}">
                <a16:creationId xmlns:a16="http://schemas.microsoft.com/office/drawing/2014/main" id="{2DE51336-8152-D20F-1FC1-92CB5F10BC62}"/>
              </a:ext>
            </a:extLst>
          </p:cNvPr>
          <p:cNvSpPr>
            <a:spLocks noGrp="1"/>
          </p:cNvSpPr>
          <p:nvPr/>
        </p:nvSpPr>
        <p:spPr>
          <a:xfrm>
            <a:off x="77470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tep4">
            <a:extLst>
              <a:ext uri="{FF2B5EF4-FFF2-40B4-BE49-F238E27FC236}">
                <a16:creationId xmlns:a16="http://schemas.microsoft.com/office/drawing/2014/main" id="{57B229E8-04E4-67D8-73EB-390E784EEC6F}"/>
              </a:ext>
            </a:extLst>
          </p:cNvPr>
          <p:cNvSpPr>
            <a:spLocks noGrp="1"/>
          </p:cNvSpPr>
          <p:nvPr/>
        </p:nvSpPr>
        <p:spPr>
          <a:xfrm>
            <a:off x="78994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0E2841"/>
          </a:solidFill>
          <a:ln w="19050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Генерация</a:t>
            </a:r>
          </a:p>
          <a:p>
            <a:pPr algn="ctr">
              <a:buNone/>
            </a:pPr>
            <a:r>
              <a:rPr lang="ru-RU" sz="1400" b="1" dirty="0">
                <a:solidFill>
                  <a:srgbClr val="FFFFFF"/>
                </a:solidFill>
                <a:latin typeface="Calibri"/>
              </a:rPr>
              <a:t>(FLUX.2 Pro)</a:t>
            </a:r>
          </a:p>
        </p:txBody>
      </p:sp>
      <p:sp>
        <p:nvSpPr>
          <p:cNvPr id="12" name="Arrow4">
            <a:extLst>
              <a:ext uri="{FF2B5EF4-FFF2-40B4-BE49-F238E27FC236}">
                <a16:creationId xmlns:a16="http://schemas.microsoft.com/office/drawing/2014/main" id="{1F078229-F81F-7531-0B47-37660758C81D}"/>
              </a:ext>
            </a:extLst>
          </p:cNvPr>
          <p:cNvSpPr>
            <a:spLocks noGrp="1"/>
          </p:cNvSpPr>
          <p:nvPr/>
        </p:nvSpPr>
        <p:spPr>
          <a:xfrm>
            <a:off x="9512300" y="2540000"/>
            <a:ext cx="1524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284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tep5">
            <a:extLst>
              <a:ext uri="{FF2B5EF4-FFF2-40B4-BE49-F238E27FC236}">
                <a16:creationId xmlns:a16="http://schemas.microsoft.com/office/drawing/2014/main" id="{7553EA6B-77AA-853F-7C91-1CF9ABD0E136}"/>
              </a:ext>
            </a:extLst>
          </p:cNvPr>
          <p:cNvSpPr>
            <a:spLocks noGrp="1"/>
          </p:cNvSpPr>
          <p:nvPr/>
        </p:nvSpPr>
        <p:spPr>
          <a:xfrm>
            <a:off x="9664700" y="2032000"/>
            <a:ext cx="1612900" cy="127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E97132"/>
            </a:solidFill>
          </a:ln>
        </p:spPr>
        <p:txBody>
          <a:bodyPr wrap="square" anchor="ctr" anchorCtr="0">
            <a:noAutofit/>
          </a:bodyPr>
          <a:lstStyle/>
          <a:p>
            <a:pPr algn="ctr">
              <a:buNone/>
            </a:pPr>
            <a:r>
              <a:rPr lang="ru-RU" sz="1400" b="1" dirty="0">
                <a:solidFill>
                  <a:srgbClr val="0E2841"/>
                </a:solidFill>
                <a:latin typeface="Calibri"/>
              </a:rPr>
              <a:t>Результат</a:t>
            </a:r>
          </a:p>
        </p:txBody>
      </p:sp>
      <p:sp>
        <p:nvSpPr>
          <p:cNvPr id="14" name="Caption">
            <a:extLst>
              <a:ext uri="{FF2B5EF4-FFF2-40B4-BE49-F238E27FC236}">
                <a16:creationId xmlns:a16="http://schemas.microsoft.com/office/drawing/2014/main" id="{F572D488-351D-A4C9-C1AA-4903E037F784}"/>
              </a:ext>
            </a:extLst>
          </p:cNvPr>
          <p:cNvSpPr>
            <a:spLocks noGrp="1"/>
          </p:cNvSpPr>
          <p:nvPr/>
        </p:nvSpPr>
        <p:spPr>
          <a:xfrm>
            <a:off x="838200" y="3556000"/>
            <a:ext cx="10515600" cy="2032000"/>
          </a:xfrm>
          <a:prstGeom prst="rect">
            <a:avLst/>
          </a:prstGeom>
          <a:solidFill>
            <a:srgbClr val="EAF0F5"/>
          </a:solidFill>
          <a:ln w="0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buNone/>
            </a:pPr>
            <a:r>
              <a:rPr lang="ru-RU" b="1" i="1" dirty="0">
                <a:solidFill>
                  <a:srgbClr val="0E2841"/>
                </a:solidFill>
                <a:latin typeface="Calibri"/>
              </a:rPr>
              <a:t>Агент сам решает порядок шагов и обрабатывает ошибки</a:t>
            </a:r>
          </a:p>
        </p:txBody>
      </p:sp>
      <p:sp>
        <p:nvSpPr>
          <p:cNvPr id="15" name="CaptionStripe">
            <a:extLst>
              <a:ext uri="{FF2B5EF4-FFF2-40B4-BE49-F238E27FC236}">
                <a16:creationId xmlns:a16="http://schemas.microsoft.com/office/drawing/2014/main" id="{B6B1F6C1-F1FB-2245-91A1-0510800DEF0C}"/>
              </a:ext>
            </a:extLst>
          </p:cNvPr>
          <p:cNvSpPr/>
          <p:nvPr/>
        </p:nvSpPr>
        <p:spPr>
          <a:xfrm>
            <a:off x="838200" y="3556000"/>
            <a:ext cx="88900" cy="2032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92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EEB9F-8DB4-B277-A482-C55A69E7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B5AC88-9114-4974-9910-300B2347F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68488"/>
            <a:ext cx="6096000" cy="4532311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rgbClr val="1A1A1A"/>
                </a:solidFill>
              </a:rPr>
              <a:t>Три сервиса: каталог деталей (</a:t>
            </a:r>
            <a:r>
              <a:rPr lang="en" sz="1600" dirty="0">
                <a:solidFill>
                  <a:srgbClr val="1A1A1A"/>
                </a:solidFill>
              </a:rPr>
              <a:t>accessories), core </a:t>
            </a:r>
            <a:r>
              <a:rPr lang="ru-RU" sz="1600" dirty="0">
                <a:solidFill>
                  <a:srgbClr val="1A1A1A"/>
                </a:solidFill>
              </a:rPr>
              <a:t>с ИИ-агентом, фронтенд (</a:t>
            </a:r>
            <a:r>
              <a:rPr lang="en" sz="1600" dirty="0" err="1">
                <a:solidFill>
                  <a:srgbClr val="1A1A1A"/>
                </a:solidFill>
              </a:rPr>
              <a:t>SvelteKit</a:t>
            </a:r>
            <a:r>
              <a:rPr lang="en" sz="1600" dirty="0">
                <a:solidFill>
                  <a:srgbClr val="1A1A1A"/>
                </a:solidFill>
              </a:rPr>
              <a:t>)
</a:t>
            </a:r>
            <a:r>
              <a:rPr lang="ru-RU" sz="1600" dirty="0">
                <a:solidFill>
                  <a:srgbClr val="1A1A1A"/>
                </a:solidFill>
              </a:rPr>
              <a:t>Бэкенд на </a:t>
            </a:r>
            <a:r>
              <a:rPr lang="en" sz="1600" dirty="0" err="1">
                <a:solidFill>
                  <a:srgbClr val="1A1A1A"/>
                </a:solidFill>
              </a:rPr>
              <a:t>FastAPI</a:t>
            </a:r>
            <a:r>
              <a:rPr lang="ru-RU" sz="1600" dirty="0">
                <a:solidFill>
                  <a:srgbClr val="1A1A1A"/>
                </a:solidFill>
              </a:rPr>
              <a:t> + </a:t>
            </a:r>
            <a:r>
              <a:rPr lang="en-US" sz="1600" dirty="0">
                <a:solidFill>
                  <a:srgbClr val="1A1A1A"/>
                </a:solidFill>
              </a:rPr>
              <a:t>SAQ</a:t>
            </a:r>
            <a:r>
              <a:rPr lang="en" sz="1600" dirty="0">
                <a:solidFill>
                  <a:srgbClr val="1A1A1A"/>
                </a:solidFill>
              </a:rPr>
              <a:t>
</a:t>
            </a:r>
            <a:r>
              <a:rPr lang="ru-RU" sz="1600" dirty="0">
                <a:solidFill>
                  <a:srgbClr val="1A1A1A"/>
                </a:solidFill>
              </a:rPr>
              <a:t>Каталог: загрузка → удаление фона (</a:t>
            </a:r>
            <a:r>
              <a:rPr lang="en" sz="1600" dirty="0" err="1">
                <a:solidFill>
                  <a:srgbClr val="1A1A1A"/>
                </a:solidFill>
              </a:rPr>
              <a:t>rembg</a:t>
            </a:r>
            <a:r>
              <a:rPr lang="en" sz="1600" dirty="0">
                <a:solidFill>
                  <a:srgbClr val="1A1A1A"/>
                </a:solidFill>
              </a:rPr>
              <a:t>) → </a:t>
            </a:r>
            <a:r>
              <a:rPr lang="ru-RU" sz="1600" dirty="0">
                <a:solidFill>
                  <a:srgbClr val="1A1A1A"/>
                </a:solidFill>
              </a:rPr>
              <a:t>текстовый </a:t>
            </a:r>
            <a:r>
              <a:rPr lang="ru-RU" sz="1600" dirty="0" err="1">
                <a:solidFill>
                  <a:srgbClr val="1A1A1A"/>
                </a:solidFill>
              </a:rPr>
              <a:t>эмбеддинг</a:t>
            </a:r>
            <a:r>
              <a:rPr lang="ru-RU" sz="1600" dirty="0">
                <a:solidFill>
                  <a:srgbClr val="1A1A1A"/>
                </a:solidFill>
              </a:rPr>
              <a:t> → готово
Инфраструктура: </a:t>
            </a:r>
            <a:r>
              <a:rPr lang="en" sz="1600" dirty="0">
                <a:solidFill>
                  <a:srgbClr val="1A1A1A"/>
                </a:solidFill>
              </a:rPr>
              <a:t>PostgreSQL + </a:t>
            </a:r>
            <a:r>
              <a:rPr lang="en" sz="1600" dirty="0" err="1">
                <a:solidFill>
                  <a:srgbClr val="1A1A1A"/>
                </a:solidFill>
              </a:rPr>
              <a:t>pgvector</a:t>
            </a:r>
            <a:r>
              <a:rPr lang="en" sz="1600" dirty="0">
                <a:solidFill>
                  <a:srgbClr val="1A1A1A"/>
                </a:solidFill>
              </a:rPr>
              <a:t>, Redis, </a:t>
            </a:r>
            <a:r>
              <a:rPr lang="ru-RU" sz="1600" dirty="0">
                <a:solidFill>
                  <a:srgbClr val="1A1A1A"/>
                </a:solidFill>
              </a:rPr>
              <a:t>файловое хранилище
Сервисы взаимодействуют по </a:t>
            </a:r>
            <a:r>
              <a:rPr lang="en" sz="1600" dirty="0">
                <a:solidFill>
                  <a:srgbClr val="1A1A1A"/>
                </a:solidFill>
              </a:rPr>
              <a:t>HTTP</a:t>
            </a:r>
            <a:endParaRPr lang="ru-RU" sz="1600" dirty="0">
              <a:solidFill>
                <a:srgbClr val="1A1A1A"/>
              </a:solidFill>
            </a:endParaRP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D4CED150-C5A9-FA49-9609-E52C5A9C8640}"/>
              </a:ext>
            </a:extLst>
          </p:cNvPr>
          <p:cNvSpPr/>
          <p:nvPr/>
        </p:nvSpPr>
        <p:spPr>
          <a:xfrm>
            <a:off x="7278624" y="1868488"/>
            <a:ext cx="4075176" cy="4532311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400">
                <a:solidFill>
                  <a:srgbClr val="5A6470"/>
                </a:solidFill>
              </a:rPr>
              <a:t>[МЕСТО ПОД ИЗОБРАЖЕНИЕ — диаграмма архитектуры (</a:t>
            </a:r>
            <a:r>
              <a:rPr lang="en" sz="1400">
                <a:solidFill>
                  <a:srgbClr val="5A6470"/>
                </a:solidFill>
              </a:rPr>
              <a:t>architecture.svg)]</a:t>
            </a:r>
            <a:endParaRPr lang="ru-RU" sz="1400">
              <a:solidFill>
                <a:srgbClr val="5A647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7B8353-8963-8EAA-BE72-2B3D8F83A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1868488"/>
            <a:ext cx="4075176" cy="453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39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24A41-426B-412F-DA0B-97AD8D71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Конвейер ИИ-агента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AA18E4-246C-C540-986B-829826E7B502}"/>
              </a:ext>
            </a:extLst>
          </p:cNvPr>
          <p:cNvSpPr/>
          <p:nvPr/>
        </p:nvSpPr>
        <p:spPr>
          <a:xfrm>
            <a:off x="762000" y="1843088"/>
            <a:ext cx="3048000" cy="838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700" b="1">
                <a:solidFill>
                  <a:srgbClr val="FFFFFF"/>
                </a:solidFill>
              </a:rPr>
              <a:t>1. Поиск детали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9441F37-95C9-7B43-B673-E2DD5FB50A58}"/>
              </a:ext>
            </a:extLst>
          </p:cNvPr>
          <p:cNvSpPr/>
          <p:nvPr/>
        </p:nvSpPr>
        <p:spPr>
          <a:xfrm>
            <a:off x="4572000" y="1843088"/>
            <a:ext cx="3048000" cy="838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700" b="1">
                <a:solidFill>
                  <a:srgbClr val="FFFFFF"/>
                </a:solidFill>
              </a:rPr>
              <a:t>2. Сегментация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57C7E3-C8BF-934B-8D0E-5083EABBC8DC}"/>
              </a:ext>
            </a:extLst>
          </p:cNvPr>
          <p:cNvSpPr/>
          <p:nvPr/>
        </p:nvSpPr>
        <p:spPr>
          <a:xfrm>
            <a:off x="8382000" y="1843088"/>
            <a:ext cx="3048000" cy="838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700" b="1">
                <a:solidFill>
                  <a:srgbClr val="FFFFFF"/>
                </a:solidFill>
              </a:rPr>
              <a:t>3. Инпейнтинг</a:t>
            </a:r>
          </a:p>
        </p:txBody>
      </p:sp>
      <p:sp>
        <p:nvSpPr>
          <p:cNvPr id="6" name="Стрелка вправо 5">
            <a:extLst>
              <a:ext uri="{FF2B5EF4-FFF2-40B4-BE49-F238E27FC236}">
                <a16:creationId xmlns:a16="http://schemas.microsoft.com/office/drawing/2014/main" id="{84BF47C0-CBC9-2543-AFBD-03FCC8106BCD}"/>
              </a:ext>
            </a:extLst>
          </p:cNvPr>
          <p:cNvSpPr/>
          <p:nvPr/>
        </p:nvSpPr>
        <p:spPr>
          <a:xfrm>
            <a:off x="3860800" y="2084388"/>
            <a:ext cx="660400" cy="355600"/>
          </a:xfrm>
          <a:prstGeom prst="right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7" name="Стрелка вправо 6">
            <a:extLst>
              <a:ext uri="{FF2B5EF4-FFF2-40B4-BE49-F238E27FC236}">
                <a16:creationId xmlns:a16="http://schemas.microsoft.com/office/drawing/2014/main" id="{92294042-C44D-C346-8D8D-63C911199F09}"/>
              </a:ext>
            </a:extLst>
          </p:cNvPr>
          <p:cNvSpPr/>
          <p:nvPr/>
        </p:nvSpPr>
        <p:spPr>
          <a:xfrm>
            <a:off x="7670800" y="2084388"/>
            <a:ext cx="660400" cy="355600"/>
          </a:xfrm>
          <a:prstGeom prst="rightArrow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022DD-70BA-C045-AE46-0367C07B9B36}"/>
              </a:ext>
            </a:extLst>
          </p:cNvPr>
          <p:cNvSpPr txBox="1"/>
          <p:nvPr/>
        </p:nvSpPr>
        <p:spPr>
          <a:xfrm>
            <a:off x="762000" y="2935288"/>
            <a:ext cx="10668000" cy="18158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600" dirty="0">
                <a:solidFill>
                  <a:srgbClr val="1A1A1A"/>
                </a:solidFill>
              </a:rPr>
              <a:t>•  Ядро — </a:t>
            </a:r>
            <a:r>
              <a:rPr lang="en" sz="1600" dirty="0">
                <a:solidFill>
                  <a:srgbClr val="1A1A1A"/>
                </a:solidFill>
              </a:rPr>
              <a:t>LLM-</a:t>
            </a:r>
            <a:r>
              <a:rPr lang="ru-RU" sz="1600" dirty="0">
                <a:solidFill>
                  <a:srgbClr val="1A1A1A"/>
                </a:solidFill>
              </a:rPr>
              <a:t>агент на </a:t>
            </a:r>
            <a:r>
              <a:rPr lang="en" sz="1600" dirty="0" err="1">
                <a:solidFill>
                  <a:srgbClr val="1A1A1A"/>
                </a:solidFill>
              </a:rPr>
              <a:t>LangChain</a:t>
            </a:r>
            <a:r>
              <a:rPr lang="en" sz="1600" dirty="0">
                <a:solidFill>
                  <a:srgbClr val="1A1A1A"/>
                </a:solidFill>
              </a:rPr>
              <a:t> </a:t>
            </a:r>
            <a:r>
              <a:rPr lang="ru-RU" sz="1600" dirty="0">
                <a:solidFill>
                  <a:srgbClr val="1A1A1A"/>
                </a:solidFill>
              </a:rPr>
              <a:t>с вызовом инструментов (</a:t>
            </a:r>
            <a:r>
              <a:rPr lang="en" sz="1600" dirty="0">
                <a:solidFill>
                  <a:srgbClr val="1A1A1A"/>
                </a:solidFill>
              </a:rPr>
              <a:t>reasoning → acting): </a:t>
            </a:r>
            <a:r>
              <a:rPr lang="ru-RU" sz="1600" dirty="0">
                <a:solidFill>
                  <a:srgbClr val="1A1A1A"/>
                </a:solidFill>
              </a:rPr>
              <a:t>сам выбирает порядок шагов и параметры, до 10 итераций
•  Сегментация двухступенчатая: </a:t>
            </a:r>
            <a:r>
              <a:rPr lang="en" sz="1600" dirty="0" err="1">
                <a:solidFill>
                  <a:srgbClr val="1A1A1A"/>
                </a:solidFill>
              </a:rPr>
              <a:t>GroundingDINO</a:t>
            </a:r>
            <a:r>
              <a:rPr lang="en" sz="1600" dirty="0">
                <a:solidFill>
                  <a:srgbClr val="1A1A1A"/>
                </a:solidFill>
              </a:rPr>
              <a:t> </a:t>
            </a:r>
            <a:r>
              <a:rPr lang="ru-RU" sz="1600" dirty="0">
                <a:solidFill>
                  <a:srgbClr val="1A1A1A"/>
                </a:solidFill>
              </a:rPr>
              <a:t>находит объект по тексту (</a:t>
            </a:r>
            <a:r>
              <a:rPr lang="en" sz="1600" dirty="0">
                <a:solidFill>
                  <a:srgbClr val="1A1A1A"/>
                </a:solidFill>
              </a:rPr>
              <a:t>open-vocabulary, </a:t>
            </a:r>
            <a:r>
              <a:rPr lang="ru-RU" sz="1600" dirty="0">
                <a:solidFill>
                  <a:srgbClr val="1A1A1A"/>
                </a:solidFill>
              </a:rPr>
              <a:t>без дообучения) → </a:t>
            </a:r>
            <a:r>
              <a:rPr lang="en" sz="1600" dirty="0">
                <a:solidFill>
                  <a:srgbClr val="1A1A1A"/>
                </a:solidFill>
              </a:rPr>
              <a:t>SAM2 </a:t>
            </a:r>
            <a:r>
              <a:rPr lang="ru-RU" sz="1600" dirty="0">
                <a:solidFill>
                  <a:srgbClr val="1A1A1A"/>
                </a:solidFill>
              </a:rPr>
              <a:t>строит точную маску по боксу
•  Маска (белое = область правки) уходит в </a:t>
            </a:r>
            <a:r>
              <a:rPr lang="ru-RU" sz="1600" dirty="0" err="1">
                <a:solidFill>
                  <a:srgbClr val="1A1A1A"/>
                </a:solidFill>
              </a:rPr>
              <a:t>инпейнтинг</a:t>
            </a:r>
            <a:r>
              <a:rPr lang="ru-RU" sz="1600" dirty="0">
                <a:solidFill>
                  <a:srgbClr val="1A1A1A"/>
                </a:solidFill>
              </a:rPr>
              <a:t>; остальная часть фото не изменяется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3138854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8011F-CEDE-7E43-0151-0D8A31E8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Ключевые технологии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65B35CB-6070-3D47-A805-3032C54B30E2}"/>
              </a:ext>
            </a:extLst>
          </p:cNvPr>
          <p:cNvSpPr/>
          <p:nvPr/>
        </p:nvSpPr>
        <p:spPr>
          <a:xfrm>
            <a:off x="762000" y="1868488"/>
            <a:ext cx="5143500" cy="2177255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CA602E0-819B-904E-8153-501FF439722F}"/>
              </a:ext>
            </a:extLst>
          </p:cNvPr>
          <p:cNvSpPr/>
          <p:nvPr/>
        </p:nvSpPr>
        <p:spPr>
          <a:xfrm>
            <a:off x="762000" y="1868488"/>
            <a:ext cx="5143500" cy="533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700" b="1">
                <a:solidFill>
                  <a:srgbClr val="FFFFFF"/>
                </a:solidFill>
              </a:rPr>
              <a:t>GroundingDINO</a:t>
            </a:r>
            <a:endParaRPr lang="ru-RU" sz="1700" b="1">
              <a:solidFill>
                <a:srgbClr val="FFFFFF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FA967E4-4CEF-5E41-B5E0-4393D343EC4C}"/>
              </a:ext>
            </a:extLst>
          </p:cNvPr>
          <p:cNvSpPr/>
          <p:nvPr/>
        </p:nvSpPr>
        <p:spPr>
          <a:xfrm>
            <a:off x="762000" y="1868488"/>
            <a:ext cx="76200" cy="2177255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D8A5B1-1026-3F47-8D08-FE89BD4B45A8}"/>
              </a:ext>
            </a:extLst>
          </p:cNvPr>
          <p:cNvSpPr txBox="1"/>
          <p:nvPr/>
        </p:nvSpPr>
        <p:spPr>
          <a:xfrm>
            <a:off x="990600" y="2528888"/>
            <a:ext cx="4762500" cy="13644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500">
                <a:solidFill>
                  <a:srgbClr val="1A1A1A"/>
                </a:solidFill>
              </a:rPr>
              <a:t>Детекция объекта по текстовому запросу без дообучения (</a:t>
            </a:r>
            <a:r>
              <a:rPr lang="en" sz="1500">
                <a:solidFill>
                  <a:srgbClr val="1A1A1A"/>
                </a:solidFill>
              </a:rPr>
              <a:t>open-vocabulary)</a:t>
            </a:r>
            <a:endParaRPr lang="ru-RU" sz="1500">
              <a:solidFill>
                <a:srgbClr val="1A1A1A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0268A58-DE2C-C240-8E23-9F3A390CE971}"/>
              </a:ext>
            </a:extLst>
          </p:cNvPr>
          <p:cNvSpPr/>
          <p:nvPr/>
        </p:nvSpPr>
        <p:spPr>
          <a:xfrm>
            <a:off x="6286500" y="1868488"/>
            <a:ext cx="5143500" cy="2177255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3CB91E1-A952-CA49-819D-823A452027F2}"/>
              </a:ext>
            </a:extLst>
          </p:cNvPr>
          <p:cNvSpPr/>
          <p:nvPr/>
        </p:nvSpPr>
        <p:spPr>
          <a:xfrm>
            <a:off x="6286500" y="1868488"/>
            <a:ext cx="5143500" cy="533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700" b="1">
                <a:solidFill>
                  <a:srgbClr val="FFFFFF"/>
                </a:solidFill>
              </a:rPr>
              <a:t>SAM2</a:t>
            </a:r>
            <a:endParaRPr lang="ru-RU" sz="1700" b="1">
              <a:solidFill>
                <a:srgbClr val="FFFFFF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A58FE20-FEA4-7748-9B05-B19EA7B30B22}"/>
              </a:ext>
            </a:extLst>
          </p:cNvPr>
          <p:cNvSpPr/>
          <p:nvPr/>
        </p:nvSpPr>
        <p:spPr>
          <a:xfrm>
            <a:off x="6286500" y="1868488"/>
            <a:ext cx="76200" cy="2177255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D86EC-3D3E-0644-BB2B-4D5903F43727}"/>
              </a:ext>
            </a:extLst>
          </p:cNvPr>
          <p:cNvSpPr txBox="1"/>
          <p:nvPr/>
        </p:nvSpPr>
        <p:spPr>
          <a:xfrm>
            <a:off x="6515100" y="2528888"/>
            <a:ext cx="4762500" cy="13644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500">
                <a:solidFill>
                  <a:srgbClr val="1A1A1A"/>
                </a:solidFill>
              </a:rPr>
              <a:t>Точная сегментация объекта по найденному ограничивающему боксу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10EF843-49B1-CF43-A71B-7917BDA452A6}"/>
              </a:ext>
            </a:extLst>
          </p:cNvPr>
          <p:cNvSpPr/>
          <p:nvPr/>
        </p:nvSpPr>
        <p:spPr>
          <a:xfrm>
            <a:off x="762000" y="4223544"/>
            <a:ext cx="5143500" cy="2177255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06AE2F-583F-E042-8957-CC3BE91A9205}"/>
              </a:ext>
            </a:extLst>
          </p:cNvPr>
          <p:cNvSpPr/>
          <p:nvPr/>
        </p:nvSpPr>
        <p:spPr>
          <a:xfrm>
            <a:off x="762000" y="4223544"/>
            <a:ext cx="5143500" cy="533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sz="1700" b="1">
                <a:solidFill>
                  <a:srgbClr val="FFFFFF"/>
                </a:solidFill>
              </a:rPr>
              <a:t>FLUX</a:t>
            </a:r>
            <a:endParaRPr lang="ru-RU" sz="1700" b="1">
              <a:solidFill>
                <a:srgbClr val="FFFFFF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983246-3201-0549-B77A-E21A96DAE06C}"/>
              </a:ext>
            </a:extLst>
          </p:cNvPr>
          <p:cNvSpPr/>
          <p:nvPr/>
        </p:nvSpPr>
        <p:spPr>
          <a:xfrm>
            <a:off x="762000" y="4223544"/>
            <a:ext cx="76200" cy="2177255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4A213A-DFB5-484E-9B5D-C6EF27A3CADB}"/>
              </a:ext>
            </a:extLst>
          </p:cNvPr>
          <p:cNvSpPr txBox="1"/>
          <p:nvPr/>
        </p:nvSpPr>
        <p:spPr>
          <a:xfrm>
            <a:off x="990600" y="4883944"/>
            <a:ext cx="4762500" cy="13644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500">
                <a:solidFill>
                  <a:srgbClr val="1A1A1A"/>
                </a:solidFill>
              </a:rPr>
              <a:t>Фотореалистичный инпейнтинг только внутри маски. Абстракция провайдера; основной — </a:t>
            </a:r>
            <a:r>
              <a:rPr lang="en" sz="1500">
                <a:solidFill>
                  <a:srgbClr val="1A1A1A"/>
                </a:solidFill>
              </a:rPr>
              <a:t>polza FLUX.2 Pro</a:t>
            </a:r>
            <a:endParaRPr lang="ru-RU" sz="1500">
              <a:solidFill>
                <a:srgbClr val="1A1A1A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05DFC9E9-1C92-1340-BE84-73128EA615B5}"/>
              </a:ext>
            </a:extLst>
          </p:cNvPr>
          <p:cNvSpPr/>
          <p:nvPr/>
        </p:nvSpPr>
        <p:spPr>
          <a:xfrm>
            <a:off x="6286500" y="4223544"/>
            <a:ext cx="5143500" cy="2177255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5DC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D8C5F03-F342-9B42-BD82-B4DB9646D4D5}"/>
              </a:ext>
            </a:extLst>
          </p:cNvPr>
          <p:cNvSpPr/>
          <p:nvPr/>
        </p:nvSpPr>
        <p:spPr>
          <a:xfrm>
            <a:off x="6286500" y="4223544"/>
            <a:ext cx="5143500" cy="5334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700" b="1" dirty="0">
                <a:solidFill>
                  <a:srgbClr val="FFFFFF"/>
                </a:solidFill>
              </a:rPr>
              <a:t>RAG</a:t>
            </a:r>
            <a:endParaRPr lang="ru-RU" sz="1700" b="1" dirty="0">
              <a:solidFill>
                <a:srgbClr val="FFFFFF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F2492E3-F5BD-9E41-BA18-D4E77680D19F}"/>
              </a:ext>
            </a:extLst>
          </p:cNvPr>
          <p:cNvSpPr/>
          <p:nvPr/>
        </p:nvSpPr>
        <p:spPr>
          <a:xfrm>
            <a:off x="6286500" y="4223544"/>
            <a:ext cx="76200" cy="2177255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B0B163-A983-7446-89AE-09893AEBC21C}"/>
              </a:ext>
            </a:extLst>
          </p:cNvPr>
          <p:cNvSpPr txBox="1"/>
          <p:nvPr/>
        </p:nvSpPr>
        <p:spPr>
          <a:xfrm>
            <a:off x="6515100" y="4883944"/>
            <a:ext cx="4762500" cy="13644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500">
                <a:solidFill>
                  <a:srgbClr val="1A1A1A"/>
                </a:solidFill>
              </a:rPr>
              <a:t>Эмбеддинги </a:t>
            </a:r>
            <a:r>
              <a:rPr lang="en" sz="1500">
                <a:solidFill>
                  <a:srgbClr val="1A1A1A"/>
                </a:solidFill>
              </a:rPr>
              <a:t>all-MiniLM-L6-v2 (384-dim), </a:t>
            </a:r>
            <a:r>
              <a:rPr lang="ru-RU" sz="1500">
                <a:solidFill>
                  <a:srgbClr val="1A1A1A"/>
                </a:solidFill>
              </a:rPr>
              <a:t>косинусная близость, порог 0.4, векторы в </a:t>
            </a:r>
            <a:r>
              <a:rPr lang="en" sz="1500">
                <a:solidFill>
                  <a:srgbClr val="1A1A1A"/>
                </a:solidFill>
              </a:rPr>
              <a:t>pgvector</a:t>
            </a:r>
            <a:endParaRPr lang="ru-RU" sz="15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06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F1213-3633-C934-0A72-D35B91F8D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Страница для добавления и обработки детали</a:t>
            </a:r>
            <a:r>
              <a:rPr lang="en-US" b="1" dirty="0"/>
              <a:t>.</a:t>
            </a:r>
            <a:endParaRPr lang="ru-RU" b="1" dirty="0"/>
          </a:p>
        </p:txBody>
      </p:sp>
      <p:sp>
        <p:nvSpPr>
          <p:cNvPr id="4" name="FrameAccent">
            <a:extLst>
              <a:ext uri="{FF2B5EF4-FFF2-40B4-BE49-F238E27FC236}">
                <a16:creationId xmlns:a16="http://schemas.microsoft.com/office/drawing/2014/main" id="{F7857856-941F-2149-8FD7-E8702F64D388}"/>
              </a:ext>
            </a:extLst>
          </p:cNvPr>
          <p:cNvSpPr/>
          <p:nvPr/>
        </p:nvSpPr>
        <p:spPr>
          <a:xfrm>
            <a:off x="1016000" y="1868488"/>
            <a:ext cx="1143000" cy="76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B54151-CB13-E6F4-C4A8-23B5B0E7C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1868488"/>
            <a:ext cx="9103360" cy="472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3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01BE8-7A2A-0183-7657-463AE068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Страница для обработки изображения</a:t>
            </a:r>
          </a:p>
        </p:txBody>
      </p:sp>
      <p:sp>
        <p:nvSpPr>
          <p:cNvPr id="4" name="FrameAccent">
            <a:extLst>
              <a:ext uri="{FF2B5EF4-FFF2-40B4-BE49-F238E27FC236}">
                <a16:creationId xmlns:a16="http://schemas.microsoft.com/office/drawing/2014/main" id="{5E4FA1E0-7581-504F-B02D-E1FC2B8CB811}"/>
              </a:ext>
            </a:extLst>
          </p:cNvPr>
          <p:cNvSpPr/>
          <p:nvPr/>
        </p:nvSpPr>
        <p:spPr>
          <a:xfrm>
            <a:off x="1016000" y="1868488"/>
            <a:ext cx="1143000" cy="76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D419EF-E021-4590-892C-204EE33EB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1868488"/>
            <a:ext cx="9103360" cy="472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53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0B05B-3DD9-B0AE-0577-4FA30A3B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Демонстрация результата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2EC20A-4E4A-ED40-A128-5EF559AACD3F}"/>
              </a:ext>
            </a:extLst>
          </p:cNvPr>
          <p:cNvSpPr/>
          <p:nvPr/>
        </p:nvSpPr>
        <p:spPr>
          <a:xfrm>
            <a:off x="762000" y="1868488"/>
            <a:ext cx="5143500" cy="3810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500" b="1">
                <a:solidFill>
                  <a:srgbClr val="FFFFFF"/>
                </a:solidFill>
              </a:rPr>
              <a:t>ДО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A7E9B97A-145F-9749-8F7D-52B64CE54BE4}"/>
              </a:ext>
            </a:extLst>
          </p:cNvPr>
          <p:cNvSpPr/>
          <p:nvPr/>
        </p:nvSpPr>
        <p:spPr>
          <a:xfrm>
            <a:off x="762000" y="2300288"/>
            <a:ext cx="5143500" cy="3541711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300">
                <a:solidFill>
                  <a:srgbClr val="5A6470"/>
                </a:solidFill>
              </a:rPr>
              <a:t>[МЕСТО ПОД ИЗОБРАЖЕНИЕ — исходное фото]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7CD70B-F26E-C141-8FCD-3973E56D3720}"/>
              </a:ext>
            </a:extLst>
          </p:cNvPr>
          <p:cNvSpPr/>
          <p:nvPr/>
        </p:nvSpPr>
        <p:spPr>
          <a:xfrm>
            <a:off x="6286500" y="1868488"/>
            <a:ext cx="5143500" cy="381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500" b="1">
                <a:solidFill>
                  <a:srgbClr val="FFFFFF"/>
                </a:solidFill>
              </a:rPr>
              <a:t>ПОСЛЕ</a:t>
            </a:r>
          </a:p>
        </p:txBody>
      </p:sp>
      <p:sp>
        <p:nvSpPr>
          <p:cNvPr id="6" name="ImagePlaceholder">
            <a:extLst>
              <a:ext uri="{FF2B5EF4-FFF2-40B4-BE49-F238E27FC236}">
                <a16:creationId xmlns:a16="http://schemas.microsoft.com/office/drawing/2014/main" id="{3189588F-BAE8-9840-A20F-E85AC824B5CE}"/>
              </a:ext>
            </a:extLst>
          </p:cNvPr>
          <p:cNvSpPr/>
          <p:nvPr/>
        </p:nvSpPr>
        <p:spPr>
          <a:xfrm>
            <a:off x="6286500" y="2300288"/>
            <a:ext cx="5143500" cy="3541711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300">
                <a:solidFill>
                  <a:srgbClr val="5A6470"/>
                </a:solidFill>
              </a:rPr>
              <a:t>[МЕСТО ПОД ИЗОБРАЖЕНИЕ — результат (</a:t>
            </a:r>
            <a:r>
              <a:rPr lang="en" sz="1300">
                <a:solidFill>
                  <a:srgbClr val="5A6470"/>
                </a:solidFill>
              </a:rPr>
              <a:t>result.jpg)]</a:t>
            </a:r>
            <a:endParaRPr lang="ru-RU" sz="1300">
              <a:solidFill>
                <a:srgbClr val="5A647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C7675-5D47-9D4C-919E-CE325FD254D7}"/>
              </a:ext>
            </a:extLst>
          </p:cNvPr>
          <p:cNvSpPr txBox="1"/>
          <p:nvPr/>
        </p:nvSpPr>
        <p:spPr>
          <a:xfrm>
            <a:off x="762000" y="59944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600" b="1">
                <a:solidFill>
                  <a:srgbClr val="156082"/>
                </a:solidFill>
              </a:rPr>
              <a:t>Деталь вписана с учётом ракурса, освещения и теней — это генерация, а не коллаж</a:t>
            </a:r>
          </a:p>
        </p:txBody>
      </p:sp>
    </p:spTree>
    <p:extLst>
      <p:ext uri="{BB962C8B-B14F-4D97-AF65-F5344CB8AC3E}">
        <p14:creationId xmlns:p14="http://schemas.microsoft.com/office/powerpoint/2010/main" val="2131882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01196-721C-723E-7A7D-FAC9EDE2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Тестирование и оценка качества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609992-0A5A-644E-BB84-DEBC3275C2F0}"/>
              </a:ext>
            </a:extLst>
          </p:cNvPr>
          <p:cNvSpPr/>
          <p:nvPr/>
        </p:nvSpPr>
        <p:spPr>
          <a:xfrm>
            <a:off x="762000" y="1868488"/>
            <a:ext cx="4064000" cy="4318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500" b="1">
                <a:solidFill>
                  <a:srgbClr val="FFFFFF"/>
                </a:solidFill>
              </a:rPr>
              <a:t>Критерии и метрики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973A3123-2D5E-DF40-80C1-FD5891D6810D}"/>
              </a:ext>
            </a:extLst>
          </p:cNvPr>
          <p:cNvSpPr/>
          <p:nvPr/>
        </p:nvSpPr>
        <p:spPr>
          <a:xfrm>
            <a:off x="762000" y="2300288"/>
            <a:ext cx="4064000" cy="1440655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300">
                <a:solidFill>
                  <a:srgbClr val="5A6470"/>
                </a:solidFill>
              </a:rPr>
              <a:t>[МЕСТО ПОД СОДЕРЖИМОЕ — метрики качества визуализации]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46DF035-64E8-0240-9A7E-E2DA3E37FC3A}"/>
              </a:ext>
            </a:extLst>
          </p:cNvPr>
          <p:cNvSpPr/>
          <p:nvPr/>
        </p:nvSpPr>
        <p:spPr>
          <a:xfrm>
            <a:off x="762000" y="3918744"/>
            <a:ext cx="4064000" cy="4318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500" b="1">
                <a:solidFill>
                  <a:srgbClr val="FFFFFF"/>
                </a:solidFill>
              </a:rPr>
              <a:t>Кейсы</a:t>
            </a:r>
          </a:p>
        </p:txBody>
      </p:sp>
      <p:sp>
        <p:nvSpPr>
          <p:cNvPr id="6" name="ImagePlaceholder">
            <a:extLst>
              <a:ext uri="{FF2B5EF4-FFF2-40B4-BE49-F238E27FC236}">
                <a16:creationId xmlns:a16="http://schemas.microsoft.com/office/drawing/2014/main" id="{A7535E2B-0977-5940-8140-C18712D722CC}"/>
              </a:ext>
            </a:extLst>
          </p:cNvPr>
          <p:cNvSpPr/>
          <p:nvPr/>
        </p:nvSpPr>
        <p:spPr>
          <a:xfrm>
            <a:off x="762000" y="4350544"/>
            <a:ext cx="4064000" cy="1440655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300">
                <a:solidFill>
                  <a:srgbClr val="5A6470"/>
                </a:solidFill>
              </a:rPr>
              <a:t>[МЕСТО ПОД ИЗОБРАЖЕНИЕ — удачные / неудачные кейсы]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B3D3FF4-FFD9-E849-B81E-DDE56495726A}"/>
              </a:ext>
            </a:extLst>
          </p:cNvPr>
          <p:cNvSpPr/>
          <p:nvPr/>
        </p:nvSpPr>
        <p:spPr>
          <a:xfrm>
            <a:off x="5080000" y="1868488"/>
            <a:ext cx="6350000" cy="4318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ru-RU" sz="1500" b="1">
                <a:solidFill>
                  <a:srgbClr val="FFFFFF"/>
                </a:solidFill>
              </a:rPr>
              <a:t>Сравнение провайдеров инпейнтинга</a:t>
            </a:r>
          </a:p>
        </p:txBody>
      </p:sp>
      <p:sp>
        <p:nvSpPr>
          <p:cNvPr id="8" name="ImagePlaceholder">
            <a:extLst>
              <a:ext uri="{FF2B5EF4-FFF2-40B4-BE49-F238E27FC236}">
                <a16:creationId xmlns:a16="http://schemas.microsoft.com/office/drawing/2014/main" id="{19A32415-EA3C-E64E-A414-E6C91E795F04}"/>
              </a:ext>
            </a:extLst>
          </p:cNvPr>
          <p:cNvSpPr/>
          <p:nvPr/>
        </p:nvSpPr>
        <p:spPr>
          <a:xfrm>
            <a:off x="5080000" y="2300288"/>
            <a:ext cx="6350000" cy="3490911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ru-RU" sz="1300">
                <a:solidFill>
                  <a:srgbClr val="5A6470"/>
                </a:solidFill>
              </a:rPr>
              <a:t>[МЕСТО ПОД ТАБЛИЦУ — заполнить после запуска тестов]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D6EDE-EFE1-C640-861B-9302A388000D}"/>
              </a:ext>
            </a:extLst>
          </p:cNvPr>
          <p:cNvSpPr txBox="1"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b="1">
                <a:solidFill>
                  <a:srgbClr val="156082"/>
                </a:solidFill>
              </a:rPr>
              <a:t>Лучший результат — </a:t>
            </a:r>
            <a:r>
              <a:rPr lang="en" b="1">
                <a:solidFill>
                  <a:srgbClr val="156082"/>
                </a:solidFill>
              </a:rPr>
              <a:t>FLUX.2 Pro</a:t>
            </a:r>
            <a:endParaRPr lang="ru-RU" b="1">
              <a:solidFill>
                <a:srgbClr val="1560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446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115A9-67CC-150B-A62C-F9843AE5E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766E0-5AD7-7937-90C0-03B8C3CC0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68488"/>
            <a:ext cx="10668000" cy="4532311"/>
          </a:xfrm>
        </p:spPr>
        <p:txBody>
          <a:bodyPr>
            <a:normAutofit/>
          </a:bodyPr>
          <a:lstStyle/>
          <a:p>
            <a:r>
              <a:rPr lang="ru-RU" sz="1900" dirty="0">
                <a:solidFill>
                  <a:srgbClr val="1A1A1A"/>
                </a:solidFill>
              </a:rPr>
              <a:t>Все поставленные задачи решены, цель достигнута
Построена работающая система: от текстового запроса до фотореалистичного результата
Практическая ценность: снижение неопределённости покупателя и доли возвратов</a:t>
            </a:r>
          </a:p>
        </p:txBody>
      </p:sp>
    </p:spTree>
    <p:extLst>
      <p:ext uri="{BB962C8B-B14F-4D97-AF65-F5344CB8AC3E}">
        <p14:creationId xmlns:p14="http://schemas.microsoft.com/office/powerpoint/2010/main" val="1391995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0D7D8-A6FB-1C2C-C039-8C07A1767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524000"/>
            <a:ext cx="10160000" cy="1524000"/>
          </a:xfrm>
        </p:spPr>
        <p:txBody>
          <a:bodyPr anchor="ctr" anchorCtr="0">
            <a:normAutofit/>
          </a:bodyPr>
          <a:lstStyle/>
          <a:p>
            <a:r>
              <a:rPr lang="ru-RU" b="1"/>
              <a:t>Спасибо за внимание!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7B474-33A4-6541-AA10-C122A1FBCE91}"/>
              </a:ext>
            </a:extLst>
          </p:cNvPr>
          <p:cNvSpPr txBox="1"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ru-RU" sz="2200">
                <a:solidFill>
                  <a:srgbClr val="E97132"/>
                </a:solidFill>
              </a:rPr>
              <a:t>Готов ответить на вопросы</a:t>
            </a:r>
          </a:p>
        </p:txBody>
      </p:sp>
      <p:sp>
        <p:nvSpPr>
          <p:cNvPr id="4" name="ImagePlaceholder">
            <a:extLst>
              <a:ext uri="{FF2B5EF4-FFF2-40B4-BE49-F238E27FC236}">
                <a16:creationId xmlns:a16="http://schemas.microsoft.com/office/drawing/2014/main" id="{424777C5-46E4-974C-B9B5-77D4D8DFE763}"/>
              </a:ext>
            </a:extLst>
          </p:cNvPr>
          <p:cNvSpPr/>
          <p:nvPr/>
        </p:nvSpPr>
        <p:spPr>
          <a:xfrm>
            <a:off x="5080000" y="4064000"/>
            <a:ext cx="2032000" cy="2032000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B8C2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sz="1200">
                <a:solidFill>
                  <a:srgbClr val="5A6470"/>
                </a:solidFill>
              </a:rPr>
              <a:t>[QR-</a:t>
            </a:r>
            <a:r>
              <a:rPr lang="ru-RU" sz="1200">
                <a:solidFill>
                  <a:srgbClr val="5A6470"/>
                </a:solidFill>
              </a:rPr>
              <a:t>код — ссылка на </a:t>
            </a:r>
            <a:r>
              <a:rPr lang="en" sz="1200">
                <a:solidFill>
                  <a:srgbClr val="5A6470"/>
                </a:solidFill>
              </a:rPr>
              <a:t>GitHub-</a:t>
            </a:r>
            <a:r>
              <a:rPr lang="ru-RU" sz="1200">
                <a:solidFill>
                  <a:srgbClr val="5A6470"/>
                </a:solidFill>
              </a:rPr>
              <a:t>репозиторий]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72E975-4CD6-D784-0108-B677C8AB9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065" y="4064000"/>
            <a:ext cx="2075935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976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[1781727276843]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90781B-D399-DB44-BE00-467517BFFC12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a8fb245c-be42-4b02-aec1-6cd1d9beb36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715</Words>
  <Application>Microsoft Macintosh PowerPoint</Application>
  <PresentationFormat>Широкоэкранный</PresentationFormat>
  <Paragraphs>86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Тема Office [1781727276843]</vt:lpstr>
      <vt:lpstr>СЕРВИС ОБРАБОТКИ ИЗОБРАЖЕНИЙ С ИСПОЛЬЗОВАНИЕМ ГЕНЕРАТИВНЫХ НЕЙРОСЕТЕЙ</vt:lpstr>
      <vt:lpstr>Проблема возвратов в e-commerce</vt:lpstr>
      <vt:lpstr>Решение: показать товар до покупки</vt:lpstr>
      <vt:lpstr>Цель и задачи</vt:lpstr>
      <vt:lpstr>Аналоги и рыночный пробел</vt:lpstr>
      <vt:lpstr>Концепт решения</vt:lpstr>
      <vt:lpstr>Более детальное решение системы</vt:lpstr>
      <vt:lpstr>Архитектура системы</vt:lpstr>
      <vt:lpstr>Конвейер ИИ-агента</vt:lpstr>
      <vt:lpstr>Ключевые технологии</vt:lpstr>
      <vt:lpstr>Страница для добавления и обработки детали.</vt:lpstr>
      <vt:lpstr>Страница для обработки изображения</vt:lpstr>
      <vt:lpstr>Демонстрация результата</vt:lpstr>
      <vt:lpstr>Тестирование и оценка качества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Nenashev</dc:creator>
  <cp:lastModifiedBy>Cyril Nenashev</cp:lastModifiedBy>
  <cp:revision>19</cp:revision>
  <dcterms:created xsi:type="dcterms:W3CDTF">2026-06-17T19:29:15Z</dcterms:created>
  <dcterms:modified xsi:type="dcterms:W3CDTF">2026-06-18T21:55:49Z</dcterms:modified>
</cp:coreProperties>
</file>